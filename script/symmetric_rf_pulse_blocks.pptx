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AC2A3-B3E0-48E3-9FC7-2770D61F2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31C2311-1DB6-4E93-8A53-E011B63F9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6A75A6-F018-4CE6-9C85-5FDA65DA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6B44A6-011A-44A9-B0DC-2125BA46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F18EE-188A-4EB8-A16B-791C7741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816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2FB0E-7E06-4DF4-B3ED-BF055936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9F634E-06D6-449D-8BA3-31113D82B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FC858C-FFB3-4DDF-B22F-1D21F215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C234D4-9A71-4C3F-BECB-099ECFB4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565804-7290-4104-92D1-2E47E71A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2521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27C6E1-9218-413F-A454-F17C51E3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9ABBE2-FE50-47BE-B3E6-ED4B67043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EDD2B2-D4A2-40E6-BFA2-980A3D19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B64DB6-C8C6-4925-BECA-394EE382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961573-AA6C-41E4-AB25-4B008054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06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C1B6A8-5C09-4BF6-BFE7-2B54E563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14F99D-F6BB-41B1-84CE-4A1D1CB1F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8416513-55F4-4A7D-B1C6-03153EF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129C42-E0CA-478A-BB26-69AC4BEF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07CEFC-2A1A-4EA1-A87C-C6BC9785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FC456E-25CD-4127-B0E6-514405D4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951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842F4-27DF-4554-B3A2-EAC43E876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C57875-0763-4A3B-AD69-6DE3DFBDA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E5D018-A480-4382-890C-110EB31D6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B03CEF-D5B5-47A1-8166-BF9EDD90B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C212B8-2EF1-46B6-9519-5970E94B3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CAB312-5D19-47CA-BDF9-FE6AC352D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D3A164-5C23-4C4A-B99B-FF05B168C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BE3561-5E00-4AAF-8184-215C4760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97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190F2F-6C1D-4C11-8FC4-C8C2F227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36453F-A0F5-45A3-BDBB-AD2BFDE6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B4BC47-3529-4474-8B25-6D9B7D5E6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5EDFA0-A9C5-446A-B600-D76B3DA1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674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A4A6D1-FDE2-4BC1-97AC-B0DD6223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9362D2-444B-406E-A7B1-B06D2C39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36C5FB-A2CF-400C-BDA2-2C34DE8ED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732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15EEA-1B94-4891-ABA5-75D4A376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5B276B-5CA4-43F1-9EEB-9E6D6553F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0B912E-2E53-4BB8-9B4F-EEE3936D5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300E7B-FD90-4D9C-A865-17DE2862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295A2F-4A28-4747-B84E-BC056D5D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1CE832-9C30-465B-B2A9-E0FAEE56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08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744128-0C02-4A04-A27A-554B42158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7D900DA-BBC8-4C48-A275-2DFB1AE47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922055-D5A5-411E-A86A-B762B9463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E5B4A8-2711-45A0-8437-F193DB01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71BB6F-B8D1-4431-8A5D-84461276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54BDE2-F7F5-4733-9ECA-E353A2B6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976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8EFD4-8DE5-4DD7-A84B-D514413C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AE94E6-9626-4B4D-8234-93379E961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2DE111-0EA5-4DB7-B322-E522A4B89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6290F2-9B18-40C4-A04C-1E29C90F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B9145C-F441-4D3F-9722-F7D51D96A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62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D3388A9-5A1A-4F5F-BB5F-47B3EB65C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ECA8E14-B844-4ECB-A360-D69FF4E56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6B7F79-C6DA-40C4-BA91-72DC8A6D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801198-8875-4B20-B187-26C6316B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373FC8-5558-40A6-BF8C-04C1F363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8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3492FC8-A5A4-4782-836E-C858764D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F0DC0B-01DB-47C6-931E-521287BAD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A7679B-C18A-4D7F-AB1B-B3AB3B7FE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84938-4800-4B4F-B2EF-65579D1B65C8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027956-B410-4B83-9959-68B97DFB0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5B52BF-57AA-4E78-B9C7-C446DCCEC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BA65C-F8AA-4E6B-A905-9E8BF84E9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017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leichschenkliges Dreieck 6">
            <a:extLst>
              <a:ext uri="{FF2B5EF4-FFF2-40B4-BE49-F238E27FC236}">
                <a16:creationId xmlns:a16="http://schemas.microsoft.com/office/drawing/2014/main" id="{602DFEB8-51D2-4A1C-B41A-4B186AD92583}"/>
              </a:ext>
            </a:extLst>
          </p:cNvPr>
          <p:cNvSpPr/>
          <p:nvPr/>
        </p:nvSpPr>
        <p:spPr>
          <a:xfrm>
            <a:off x="710798" y="1371870"/>
            <a:ext cx="2163704" cy="1592322"/>
          </a:xfrm>
          <a:custGeom>
            <a:avLst/>
            <a:gdLst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34894"/>
              <a:gd name="connsiteX1" fmla="*/ 503767 w 1007533"/>
              <a:gd name="connsiteY1" fmla="*/ 5 h 934894"/>
              <a:gd name="connsiteX2" fmla="*/ 1007533 w 1007533"/>
              <a:gd name="connsiteY2" fmla="*/ 804339 h 934894"/>
              <a:gd name="connsiteX3" fmla="*/ 0 w 1007533"/>
              <a:gd name="connsiteY3" fmla="*/ 804339 h 934894"/>
              <a:gd name="connsiteX0" fmla="*/ 0 w 1007533"/>
              <a:gd name="connsiteY0" fmla="*/ 804339 h 927821"/>
              <a:gd name="connsiteX1" fmla="*/ 503767 w 1007533"/>
              <a:gd name="connsiteY1" fmla="*/ 5 h 927821"/>
              <a:gd name="connsiteX2" fmla="*/ 1007533 w 1007533"/>
              <a:gd name="connsiteY2" fmla="*/ 804339 h 927821"/>
              <a:gd name="connsiteX3" fmla="*/ 0 w 1007533"/>
              <a:gd name="connsiteY3" fmla="*/ 804339 h 927821"/>
              <a:gd name="connsiteX0" fmla="*/ 0 w 1007533"/>
              <a:gd name="connsiteY0" fmla="*/ 804339 h 904929"/>
              <a:gd name="connsiteX1" fmla="*/ 503767 w 1007533"/>
              <a:gd name="connsiteY1" fmla="*/ 5 h 904929"/>
              <a:gd name="connsiteX2" fmla="*/ 1007533 w 1007533"/>
              <a:gd name="connsiteY2" fmla="*/ 804339 h 904929"/>
              <a:gd name="connsiteX3" fmla="*/ 0 w 1007533"/>
              <a:gd name="connsiteY3" fmla="*/ 804339 h 904929"/>
              <a:gd name="connsiteX0" fmla="*/ 0 w 1007533"/>
              <a:gd name="connsiteY0" fmla="*/ 440275 h 570890"/>
              <a:gd name="connsiteX1" fmla="*/ 503767 w 1007533"/>
              <a:gd name="connsiteY1" fmla="*/ 7 h 570890"/>
              <a:gd name="connsiteX2" fmla="*/ 1007533 w 1007533"/>
              <a:gd name="connsiteY2" fmla="*/ 440275 h 570890"/>
              <a:gd name="connsiteX3" fmla="*/ 0 w 1007533"/>
              <a:gd name="connsiteY3" fmla="*/ 440275 h 570890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601223 h 715970"/>
              <a:gd name="connsiteX1" fmla="*/ 486834 w 1007533"/>
              <a:gd name="connsiteY1" fmla="*/ 88 h 715970"/>
              <a:gd name="connsiteX2" fmla="*/ 1007533 w 1007533"/>
              <a:gd name="connsiteY2" fmla="*/ 601223 h 715970"/>
              <a:gd name="connsiteX3" fmla="*/ 0 w 1007533"/>
              <a:gd name="connsiteY3" fmla="*/ 601223 h 715970"/>
              <a:gd name="connsiteX0" fmla="*/ 0 w 1007533"/>
              <a:gd name="connsiteY0" fmla="*/ 601141 h 716545"/>
              <a:gd name="connsiteX1" fmla="*/ 486834 w 1007533"/>
              <a:gd name="connsiteY1" fmla="*/ 6 h 716545"/>
              <a:gd name="connsiteX2" fmla="*/ 1007533 w 1007533"/>
              <a:gd name="connsiteY2" fmla="*/ 601141 h 716545"/>
              <a:gd name="connsiteX3" fmla="*/ 0 w 1007533"/>
              <a:gd name="connsiteY3" fmla="*/ 601141 h 71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533" h="716545">
                <a:moveTo>
                  <a:pt x="0" y="601141"/>
                </a:moveTo>
                <a:cubicBezTo>
                  <a:pt x="328788" y="1052696"/>
                  <a:pt x="327378" y="14117"/>
                  <a:pt x="486834" y="6"/>
                </a:cubicBezTo>
                <a:cubicBezTo>
                  <a:pt x="671690" y="-2818"/>
                  <a:pt x="678743" y="1061164"/>
                  <a:pt x="1007533" y="601141"/>
                </a:cubicBezTo>
                <a:lnTo>
                  <a:pt x="0" y="601141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sp>
        <p:nvSpPr>
          <p:cNvPr id="8" name="Gleichschenkliges Dreieck 6">
            <a:extLst>
              <a:ext uri="{FF2B5EF4-FFF2-40B4-BE49-F238E27FC236}">
                <a16:creationId xmlns:a16="http://schemas.microsoft.com/office/drawing/2014/main" id="{A5E3B951-A9D0-46EC-ABA8-611109E7EC29}"/>
              </a:ext>
            </a:extLst>
          </p:cNvPr>
          <p:cNvSpPr/>
          <p:nvPr/>
        </p:nvSpPr>
        <p:spPr>
          <a:xfrm>
            <a:off x="4875858" y="1418155"/>
            <a:ext cx="2163704" cy="1592322"/>
          </a:xfrm>
          <a:custGeom>
            <a:avLst/>
            <a:gdLst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34894"/>
              <a:gd name="connsiteX1" fmla="*/ 503767 w 1007533"/>
              <a:gd name="connsiteY1" fmla="*/ 5 h 934894"/>
              <a:gd name="connsiteX2" fmla="*/ 1007533 w 1007533"/>
              <a:gd name="connsiteY2" fmla="*/ 804339 h 934894"/>
              <a:gd name="connsiteX3" fmla="*/ 0 w 1007533"/>
              <a:gd name="connsiteY3" fmla="*/ 804339 h 934894"/>
              <a:gd name="connsiteX0" fmla="*/ 0 w 1007533"/>
              <a:gd name="connsiteY0" fmla="*/ 804339 h 927821"/>
              <a:gd name="connsiteX1" fmla="*/ 503767 w 1007533"/>
              <a:gd name="connsiteY1" fmla="*/ 5 h 927821"/>
              <a:gd name="connsiteX2" fmla="*/ 1007533 w 1007533"/>
              <a:gd name="connsiteY2" fmla="*/ 804339 h 927821"/>
              <a:gd name="connsiteX3" fmla="*/ 0 w 1007533"/>
              <a:gd name="connsiteY3" fmla="*/ 804339 h 927821"/>
              <a:gd name="connsiteX0" fmla="*/ 0 w 1007533"/>
              <a:gd name="connsiteY0" fmla="*/ 804339 h 904929"/>
              <a:gd name="connsiteX1" fmla="*/ 503767 w 1007533"/>
              <a:gd name="connsiteY1" fmla="*/ 5 h 904929"/>
              <a:gd name="connsiteX2" fmla="*/ 1007533 w 1007533"/>
              <a:gd name="connsiteY2" fmla="*/ 804339 h 904929"/>
              <a:gd name="connsiteX3" fmla="*/ 0 w 1007533"/>
              <a:gd name="connsiteY3" fmla="*/ 804339 h 904929"/>
              <a:gd name="connsiteX0" fmla="*/ 0 w 1007533"/>
              <a:gd name="connsiteY0" fmla="*/ 440275 h 570890"/>
              <a:gd name="connsiteX1" fmla="*/ 503767 w 1007533"/>
              <a:gd name="connsiteY1" fmla="*/ 7 h 570890"/>
              <a:gd name="connsiteX2" fmla="*/ 1007533 w 1007533"/>
              <a:gd name="connsiteY2" fmla="*/ 440275 h 570890"/>
              <a:gd name="connsiteX3" fmla="*/ 0 w 1007533"/>
              <a:gd name="connsiteY3" fmla="*/ 440275 h 570890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601223 h 715970"/>
              <a:gd name="connsiteX1" fmla="*/ 486834 w 1007533"/>
              <a:gd name="connsiteY1" fmla="*/ 88 h 715970"/>
              <a:gd name="connsiteX2" fmla="*/ 1007533 w 1007533"/>
              <a:gd name="connsiteY2" fmla="*/ 601223 h 715970"/>
              <a:gd name="connsiteX3" fmla="*/ 0 w 1007533"/>
              <a:gd name="connsiteY3" fmla="*/ 601223 h 715970"/>
              <a:gd name="connsiteX0" fmla="*/ 0 w 1007533"/>
              <a:gd name="connsiteY0" fmla="*/ 601141 h 716545"/>
              <a:gd name="connsiteX1" fmla="*/ 486834 w 1007533"/>
              <a:gd name="connsiteY1" fmla="*/ 6 h 716545"/>
              <a:gd name="connsiteX2" fmla="*/ 1007533 w 1007533"/>
              <a:gd name="connsiteY2" fmla="*/ 601141 h 716545"/>
              <a:gd name="connsiteX3" fmla="*/ 0 w 1007533"/>
              <a:gd name="connsiteY3" fmla="*/ 601141 h 71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533" h="716545">
                <a:moveTo>
                  <a:pt x="0" y="601141"/>
                </a:moveTo>
                <a:cubicBezTo>
                  <a:pt x="328788" y="1052696"/>
                  <a:pt x="327378" y="14117"/>
                  <a:pt x="486834" y="6"/>
                </a:cubicBezTo>
                <a:cubicBezTo>
                  <a:pt x="671690" y="-2818"/>
                  <a:pt x="678743" y="1061164"/>
                  <a:pt x="1007533" y="601141"/>
                </a:cubicBezTo>
                <a:lnTo>
                  <a:pt x="0" y="601141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629582A-1F93-4CA5-8616-CE4031D52B6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487333" y="2754024"/>
            <a:ext cx="38852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EC87D7A-2214-4A6B-A29E-33515852B98D}"/>
              </a:ext>
            </a:extLst>
          </p:cNvPr>
          <p:cNvSpPr txBox="1"/>
          <p:nvPr/>
        </p:nvSpPr>
        <p:spPr>
          <a:xfrm>
            <a:off x="4048142" y="2316129"/>
            <a:ext cx="878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C00000"/>
                </a:solidFill>
              </a:rPr>
              <a:t>rf.delay</a:t>
            </a:r>
            <a:endParaRPr lang="de-DE" dirty="0">
              <a:solidFill>
                <a:srgbClr val="C00000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90D3386-9946-4EAF-BBC4-9EE97D249702}"/>
              </a:ext>
            </a:extLst>
          </p:cNvPr>
          <p:cNvSpPr txBox="1"/>
          <p:nvPr/>
        </p:nvSpPr>
        <p:spPr>
          <a:xfrm>
            <a:off x="7239000" y="3103505"/>
            <a:ext cx="501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rf.ringdown_time</a:t>
            </a:r>
            <a:r>
              <a:rPr lang="de-DE" dirty="0">
                <a:solidFill>
                  <a:srgbClr val="00B050"/>
                </a:solidFill>
              </a:rPr>
              <a:t>  </a:t>
            </a:r>
            <a:r>
              <a:rPr lang="de-DE" dirty="0" err="1">
                <a:solidFill>
                  <a:srgbClr val="00B050"/>
                </a:solidFill>
              </a:rPr>
              <a:t>is</a:t>
            </a:r>
            <a:r>
              <a:rPr lang="de-DE" dirty="0">
                <a:solidFill>
                  <a:srgbClr val="00B050"/>
                </a:solidFill>
              </a:rPr>
              <a:t> not </a:t>
            </a:r>
            <a:r>
              <a:rPr lang="de-DE" dirty="0" err="1">
                <a:solidFill>
                  <a:srgbClr val="00B050"/>
                </a:solidFill>
              </a:rPr>
              <a:t>dependent</a:t>
            </a:r>
            <a:r>
              <a:rPr lang="de-DE" dirty="0">
                <a:solidFill>
                  <a:srgbClr val="00B050"/>
                </a:solidFill>
              </a:rPr>
              <a:t> on </a:t>
            </a:r>
            <a:r>
              <a:rPr lang="de-DE" dirty="0" err="1">
                <a:solidFill>
                  <a:srgbClr val="00B050"/>
                </a:solidFill>
              </a:rPr>
              <a:t>the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gradient</a:t>
            </a:r>
            <a:endParaRPr lang="de-DE" dirty="0">
              <a:solidFill>
                <a:srgbClr val="00B050"/>
              </a:solidFill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DBA87E4-0579-4F64-811D-B0D7AACFDD4C}"/>
              </a:ext>
            </a:extLst>
          </p:cNvPr>
          <p:cNvCxnSpPr>
            <a:cxnSpLocks/>
          </p:cNvCxnSpPr>
          <p:nvPr/>
        </p:nvCxnSpPr>
        <p:spPr>
          <a:xfrm>
            <a:off x="7039562" y="2754024"/>
            <a:ext cx="19943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E0118288-6AF4-4BE0-9967-5252CBBF02C0}"/>
              </a:ext>
            </a:extLst>
          </p:cNvPr>
          <p:cNvSpPr txBox="1"/>
          <p:nvPr/>
        </p:nvSpPr>
        <p:spPr>
          <a:xfrm>
            <a:off x="4048142" y="3536781"/>
            <a:ext cx="571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C00000"/>
                </a:solidFill>
              </a:rPr>
              <a:t>rf.delay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is</a:t>
            </a:r>
            <a:r>
              <a:rPr lang="de-DE" dirty="0">
                <a:solidFill>
                  <a:srgbClr val="C00000"/>
                </a:solidFill>
              </a:rPr>
              <a:t> limited </a:t>
            </a:r>
            <a:r>
              <a:rPr lang="de-DE" dirty="0" err="1">
                <a:solidFill>
                  <a:srgbClr val="C00000"/>
                </a:solidFill>
              </a:rPr>
              <a:t>by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max</a:t>
            </a:r>
            <a:r>
              <a:rPr lang="de-DE" dirty="0">
                <a:solidFill>
                  <a:srgbClr val="C00000"/>
                </a:solidFill>
              </a:rPr>
              <a:t>(</a:t>
            </a:r>
            <a:r>
              <a:rPr lang="de-DE" dirty="0" err="1">
                <a:solidFill>
                  <a:srgbClr val="C00000"/>
                </a:solidFill>
              </a:rPr>
              <a:t>gradient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ramp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up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or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rf.dead_time</a:t>
            </a:r>
            <a:endParaRPr lang="de-DE" dirty="0">
              <a:solidFill>
                <a:srgbClr val="C00000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F50D63E-8ACD-4354-9558-454F9527685A}"/>
              </a:ext>
            </a:extLst>
          </p:cNvPr>
          <p:cNvSpPr txBox="1"/>
          <p:nvPr/>
        </p:nvSpPr>
        <p:spPr>
          <a:xfrm>
            <a:off x="7223139" y="2513989"/>
            <a:ext cx="181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rf.ringdown_time</a:t>
            </a:r>
            <a:endParaRPr lang="de-DE" dirty="0">
              <a:solidFill>
                <a:srgbClr val="00B050"/>
              </a:solidFill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A88A6AC-91AF-44C4-8CF3-A210D423CCB4}"/>
              </a:ext>
            </a:extLst>
          </p:cNvPr>
          <p:cNvCxnSpPr>
            <a:cxnSpLocks/>
          </p:cNvCxnSpPr>
          <p:nvPr/>
        </p:nvCxnSpPr>
        <p:spPr>
          <a:xfrm>
            <a:off x="4487333" y="5682215"/>
            <a:ext cx="38852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FE44BD59-8C2F-48E0-A82B-D0377CF84A6A}"/>
              </a:ext>
            </a:extLst>
          </p:cNvPr>
          <p:cNvSpPr txBox="1"/>
          <p:nvPr/>
        </p:nvSpPr>
        <p:spPr>
          <a:xfrm>
            <a:off x="4048142" y="5244320"/>
            <a:ext cx="878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C00000"/>
                </a:solidFill>
              </a:rPr>
              <a:t>rf.delay</a:t>
            </a:r>
            <a:endParaRPr lang="de-DE" dirty="0">
              <a:solidFill>
                <a:srgbClr val="C00000"/>
              </a:solidFill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732EABF7-4FDF-485A-953C-2F45449D521F}"/>
              </a:ext>
            </a:extLst>
          </p:cNvPr>
          <p:cNvCxnSpPr>
            <a:cxnSpLocks/>
          </p:cNvCxnSpPr>
          <p:nvPr/>
        </p:nvCxnSpPr>
        <p:spPr>
          <a:xfrm>
            <a:off x="7039562" y="5682215"/>
            <a:ext cx="19943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E7BEF0E2-2BE7-492F-BB89-E54A8CBDF94D}"/>
              </a:ext>
            </a:extLst>
          </p:cNvPr>
          <p:cNvSpPr txBox="1"/>
          <p:nvPr/>
        </p:nvSpPr>
        <p:spPr>
          <a:xfrm>
            <a:off x="7223139" y="5442180"/>
            <a:ext cx="181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rf.ringdown_time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84FF86F-9314-471B-B20E-9312E8F39F28}"/>
              </a:ext>
            </a:extLst>
          </p:cNvPr>
          <p:cNvSpPr/>
          <p:nvPr/>
        </p:nvSpPr>
        <p:spPr>
          <a:xfrm>
            <a:off x="4892621" y="5161525"/>
            <a:ext cx="2146941" cy="5349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AA8DF85-5A02-409E-BF4B-6B165043A7AB}"/>
              </a:ext>
            </a:extLst>
          </p:cNvPr>
          <p:cNvSpPr/>
          <p:nvPr/>
        </p:nvSpPr>
        <p:spPr>
          <a:xfrm>
            <a:off x="710798" y="5179273"/>
            <a:ext cx="2146941" cy="5349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5C15E34-6E30-45FC-B55A-76EDA6CA5FF4}"/>
              </a:ext>
            </a:extLst>
          </p:cNvPr>
          <p:cNvSpPr txBox="1"/>
          <p:nvPr/>
        </p:nvSpPr>
        <p:spPr>
          <a:xfrm>
            <a:off x="41931" y="92801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sinc</a:t>
            </a:r>
            <a:endParaRPr lang="de-DE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753BC34-5A31-4893-BF1D-D7573371321C}"/>
              </a:ext>
            </a:extLst>
          </p:cNvPr>
          <p:cNvSpPr txBox="1"/>
          <p:nvPr/>
        </p:nvSpPr>
        <p:spPr>
          <a:xfrm>
            <a:off x="124128" y="4681023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block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8290699-FEAA-40DD-997C-5492C32D088E}"/>
              </a:ext>
            </a:extLst>
          </p:cNvPr>
          <p:cNvSpPr txBox="1"/>
          <p:nvPr/>
        </p:nvSpPr>
        <p:spPr>
          <a:xfrm>
            <a:off x="315403" y="179547"/>
            <a:ext cx="5430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 err="1"/>
              <a:t>rf</a:t>
            </a:r>
            <a:r>
              <a:rPr lang="de-DE" sz="2800" b="1" dirty="0"/>
              <a:t> </a:t>
            </a:r>
            <a:r>
              <a:rPr lang="de-DE" sz="2800" b="1" dirty="0" err="1"/>
              <a:t>pulses</a:t>
            </a:r>
            <a:r>
              <a:rPr lang="de-DE" sz="2800" b="1" dirty="0"/>
              <a:t> in </a:t>
            </a:r>
            <a:r>
              <a:rPr lang="de-DE" sz="2800" b="1" dirty="0" err="1"/>
              <a:t>Pulseq</a:t>
            </a:r>
            <a:r>
              <a:rPr lang="de-DE" sz="2800" b="1" dirty="0"/>
              <a:t> and block </a:t>
            </a:r>
            <a:r>
              <a:rPr lang="de-DE" sz="2800" b="1" dirty="0" err="1"/>
              <a:t>length</a:t>
            </a:r>
            <a:endParaRPr lang="de-DE" sz="2800"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C9ACE7-F45C-4039-87E2-2F8269C686AC}"/>
              </a:ext>
            </a:extLst>
          </p:cNvPr>
          <p:cNvSpPr txBox="1"/>
          <p:nvPr/>
        </p:nvSpPr>
        <p:spPr>
          <a:xfrm>
            <a:off x="1311861" y="5954229"/>
            <a:ext cx="6739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pp.calc_duration</a:t>
            </a:r>
            <a:r>
              <a:rPr lang="de-DE" dirty="0"/>
              <a:t>(</a:t>
            </a:r>
            <a:r>
              <a:rPr lang="de-DE" dirty="0" err="1"/>
              <a:t>rf</a:t>
            </a:r>
            <a:r>
              <a:rPr lang="de-DE" dirty="0"/>
              <a:t>)=   </a:t>
            </a:r>
            <a:r>
              <a:rPr lang="de-DE" dirty="0" err="1">
                <a:solidFill>
                  <a:srgbClr val="C00000"/>
                </a:solidFill>
              </a:rPr>
              <a:t>rf.delay</a:t>
            </a:r>
            <a:r>
              <a:rPr lang="de-DE" dirty="0">
                <a:solidFill>
                  <a:srgbClr val="C00000"/>
                </a:solidFill>
              </a:rPr>
              <a:t>+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duration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>
                <a:solidFill>
                  <a:srgbClr val="C00000"/>
                </a:solidFill>
              </a:rPr>
              <a:t>+</a:t>
            </a:r>
            <a:r>
              <a:rPr lang="de-DE" dirty="0" err="1">
                <a:solidFill>
                  <a:srgbClr val="00B050"/>
                </a:solidFill>
              </a:rPr>
              <a:t>rf.ringdown_time</a:t>
            </a:r>
            <a:endParaRPr lang="de-DE" dirty="0">
              <a:solidFill>
                <a:srgbClr val="00B050"/>
              </a:solidFill>
            </a:endParaRPr>
          </a:p>
          <a:p>
            <a:r>
              <a:rPr lang="de-DE" dirty="0">
                <a:solidFill>
                  <a:srgbClr val="C00000"/>
                </a:solidFill>
              </a:rPr>
              <a:t> </a:t>
            </a:r>
          </a:p>
          <a:p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27D4702-A6AA-4E7D-A5E1-A964A8663883}"/>
              </a:ext>
            </a:extLst>
          </p:cNvPr>
          <p:cNvSpPr txBox="1"/>
          <p:nvPr/>
        </p:nvSpPr>
        <p:spPr>
          <a:xfrm>
            <a:off x="7670800" y="5954229"/>
            <a:ext cx="353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RF </a:t>
            </a:r>
            <a:r>
              <a:rPr lang="de-DE" b="1" dirty="0" err="1">
                <a:solidFill>
                  <a:srgbClr val="FF0000"/>
                </a:solidFill>
              </a:rPr>
              <a:t>is</a:t>
            </a:r>
            <a:r>
              <a:rPr lang="de-DE" b="1" dirty="0">
                <a:solidFill>
                  <a:srgbClr val="FF0000"/>
                </a:solidFill>
              </a:rPr>
              <a:t> NOT </a:t>
            </a:r>
            <a:r>
              <a:rPr lang="de-DE" b="1" dirty="0" err="1">
                <a:solidFill>
                  <a:srgbClr val="FF0000"/>
                </a:solidFill>
              </a:rPr>
              <a:t>centered</a:t>
            </a:r>
            <a:r>
              <a:rPr lang="de-DE" b="1" dirty="0">
                <a:solidFill>
                  <a:srgbClr val="FF0000"/>
                </a:solidFill>
              </a:rPr>
              <a:t> in </a:t>
            </a:r>
            <a:r>
              <a:rPr lang="de-DE" b="1" dirty="0" err="1">
                <a:solidFill>
                  <a:srgbClr val="FF0000"/>
                </a:solidFill>
              </a:rPr>
              <a:t>its</a:t>
            </a:r>
            <a:r>
              <a:rPr lang="de-DE" b="1" dirty="0">
                <a:solidFill>
                  <a:srgbClr val="FF0000"/>
                </a:solidFill>
              </a:rPr>
              <a:t> own block</a:t>
            </a:r>
          </a:p>
        </p:txBody>
      </p:sp>
    </p:spTree>
    <p:extLst>
      <p:ext uri="{BB962C8B-B14F-4D97-AF65-F5344CB8AC3E}">
        <p14:creationId xmlns:p14="http://schemas.microsoft.com/office/powerpoint/2010/main" val="41613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leichschenkliges Dreieck 6">
            <a:extLst>
              <a:ext uri="{FF2B5EF4-FFF2-40B4-BE49-F238E27FC236}">
                <a16:creationId xmlns:a16="http://schemas.microsoft.com/office/drawing/2014/main" id="{602DFEB8-51D2-4A1C-B41A-4B186AD92583}"/>
              </a:ext>
            </a:extLst>
          </p:cNvPr>
          <p:cNvSpPr/>
          <p:nvPr/>
        </p:nvSpPr>
        <p:spPr>
          <a:xfrm>
            <a:off x="710798" y="1371870"/>
            <a:ext cx="2163704" cy="1592322"/>
          </a:xfrm>
          <a:custGeom>
            <a:avLst/>
            <a:gdLst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34894"/>
              <a:gd name="connsiteX1" fmla="*/ 503767 w 1007533"/>
              <a:gd name="connsiteY1" fmla="*/ 5 h 934894"/>
              <a:gd name="connsiteX2" fmla="*/ 1007533 w 1007533"/>
              <a:gd name="connsiteY2" fmla="*/ 804339 h 934894"/>
              <a:gd name="connsiteX3" fmla="*/ 0 w 1007533"/>
              <a:gd name="connsiteY3" fmla="*/ 804339 h 934894"/>
              <a:gd name="connsiteX0" fmla="*/ 0 w 1007533"/>
              <a:gd name="connsiteY0" fmla="*/ 804339 h 927821"/>
              <a:gd name="connsiteX1" fmla="*/ 503767 w 1007533"/>
              <a:gd name="connsiteY1" fmla="*/ 5 h 927821"/>
              <a:gd name="connsiteX2" fmla="*/ 1007533 w 1007533"/>
              <a:gd name="connsiteY2" fmla="*/ 804339 h 927821"/>
              <a:gd name="connsiteX3" fmla="*/ 0 w 1007533"/>
              <a:gd name="connsiteY3" fmla="*/ 804339 h 927821"/>
              <a:gd name="connsiteX0" fmla="*/ 0 w 1007533"/>
              <a:gd name="connsiteY0" fmla="*/ 804339 h 904929"/>
              <a:gd name="connsiteX1" fmla="*/ 503767 w 1007533"/>
              <a:gd name="connsiteY1" fmla="*/ 5 h 904929"/>
              <a:gd name="connsiteX2" fmla="*/ 1007533 w 1007533"/>
              <a:gd name="connsiteY2" fmla="*/ 804339 h 904929"/>
              <a:gd name="connsiteX3" fmla="*/ 0 w 1007533"/>
              <a:gd name="connsiteY3" fmla="*/ 804339 h 904929"/>
              <a:gd name="connsiteX0" fmla="*/ 0 w 1007533"/>
              <a:gd name="connsiteY0" fmla="*/ 440275 h 570890"/>
              <a:gd name="connsiteX1" fmla="*/ 503767 w 1007533"/>
              <a:gd name="connsiteY1" fmla="*/ 7 h 570890"/>
              <a:gd name="connsiteX2" fmla="*/ 1007533 w 1007533"/>
              <a:gd name="connsiteY2" fmla="*/ 440275 h 570890"/>
              <a:gd name="connsiteX3" fmla="*/ 0 w 1007533"/>
              <a:gd name="connsiteY3" fmla="*/ 440275 h 570890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601223 h 715970"/>
              <a:gd name="connsiteX1" fmla="*/ 486834 w 1007533"/>
              <a:gd name="connsiteY1" fmla="*/ 88 h 715970"/>
              <a:gd name="connsiteX2" fmla="*/ 1007533 w 1007533"/>
              <a:gd name="connsiteY2" fmla="*/ 601223 h 715970"/>
              <a:gd name="connsiteX3" fmla="*/ 0 w 1007533"/>
              <a:gd name="connsiteY3" fmla="*/ 601223 h 715970"/>
              <a:gd name="connsiteX0" fmla="*/ 0 w 1007533"/>
              <a:gd name="connsiteY0" fmla="*/ 601141 h 716545"/>
              <a:gd name="connsiteX1" fmla="*/ 486834 w 1007533"/>
              <a:gd name="connsiteY1" fmla="*/ 6 h 716545"/>
              <a:gd name="connsiteX2" fmla="*/ 1007533 w 1007533"/>
              <a:gd name="connsiteY2" fmla="*/ 601141 h 716545"/>
              <a:gd name="connsiteX3" fmla="*/ 0 w 1007533"/>
              <a:gd name="connsiteY3" fmla="*/ 601141 h 71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533" h="716545">
                <a:moveTo>
                  <a:pt x="0" y="601141"/>
                </a:moveTo>
                <a:cubicBezTo>
                  <a:pt x="328788" y="1052696"/>
                  <a:pt x="327378" y="14117"/>
                  <a:pt x="486834" y="6"/>
                </a:cubicBezTo>
                <a:cubicBezTo>
                  <a:pt x="671690" y="-2818"/>
                  <a:pt x="678743" y="1061164"/>
                  <a:pt x="1007533" y="601141"/>
                </a:cubicBezTo>
                <a:lnTo>
                  <a:pt x="0" y="601141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sp>
        <p:nvSpPr>
          <p:cNvPr id="8" name="Gleichschenkliges Dreieck 6">
            <a:extLst>
              <a:ext uri="{FF2B5EF4-FFF2-40B4-BE49-F238E27FC236}">
                <a16:creationId xmlns:a16="http://schemas.microsoft.com/office/drawing/2014/main" id="{A5E3B951-A9D0-46EC-ABA8-611109E7EC29}"/>
              </a:ext>
            </a:extLst>
          </p:cNvPr>
          <p:cNvSpPr/>
          <p:nvPr/>
        </p:nvSpPr>
        <p:spPr>
          <a:xfrm>
            <a:off x="4875858" y="1418155"/>
            <a:ext cx="2163704" cy="1592322"/>
          </a:xfrm>
          <a:custGeom>
            <a:avLst/>
            <a:gdLst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34894"/>
              <a:gd name="connsiteX1" fmla="*/ 503767 w 1007533"/>
              <a:gd name="connsiteY1" fmla="*/ 5 h 934894"/>
              <a:gd name="connsiteX2" fmla="*/ 1007533 w 1007533"/>
              <a:gd name="connsiteY2" fmla="*/ 804339 h 934894"/>
              <a:gd name="connsiteX3" fmla="*/ 0 w 1007533"/>
              <a:gd name="connsiteY3" fmla="*/ 804339 h 934894"/>
              <a:gd name="connsiteX0" fmla="*/ 0 w 1007533"/>
              <a:gd name="connsiteY0" fmla="*/ 804339 h 927821"/>
              <a:gd name="connsiteX1" fmla="*/ 503767 w 1007533"/>
              <a:gd name="connsiteY1" fmla="*/ 5 h 927821"/>
              <a:gd name="connsiteX2" fmla="*/ 1007533 w 1007533"/>
              <a:gd name="connsiteY2" fmla="*/ 804339 h 927821"/>
              <a:gd name="connsiteX3" fmla="*/ 0 w 1007533"/>
              <a:gd name="connsiteY3" fmla="*/ 804339 h 927821"/>
              <a:gd name="connsiteX0" fmla="*/ 0 w 1007533"/>
              <a:gd name="connsiteY0" fmla="*/ 804339 h 904929"/>
              <a:gd name="connsiteX1" fmla="*/ 503767 w 1007533"/>
              <a:gd name="connsiteY1" fmla="*/ 5 h 904929"/>
              <a:gd name="connsiteX2" fmla="*/ 1007533 w 1007533"/>
              <a:gd name="connsiteY2" fmla="*/ 804339 h 904929"/>
              <a:gd name="connsiteX3" fmla="*/ 0 w 1007533"/>
              <a:gd name="connsiteY3" fmla="*/ 804339 h 904929"/>
              <a:gd name="connsiteX0" fmla="*/ 0 w 1007533"/>
              <a:gd name="connsiteY0" fmla="*/ 440275 h 570890"/>
              <a:gd name="connsiteX1" fmla="*/ 503767 w 1007533"/>
              <a:gd name="connsiteY1" fmla="*/ 7 h 570890"/>
              <a:gd name="connsiteX2" fmla="*/ 1007533 w 1007533"/>
              <a:gd name="connsiteY2" fmla="*/ 440275 h 570890"/>
              <a:gd name="connsiteX3" fmla="*/ 0 w 1007533"/>
              <a:gd name="connsiteY3" fmla="*/ 440275 h 570890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601223 h 715970"/>
              <a:gd name="connsiteX1" fmla="*/ 486834 w 1007533"/>
              <a:gd name="connsiteY1" fmla="*/ 88 h 715970"/>
              <a:gd name="connsiteX2" fmla="*/ 1007533 w 1007533"/>
              <a:gd name="connsiteY2" fmla="*/ 601223 h 715970"/>
              <a:gd name="connsiteX3" fmla="*/ 0 w 1007533"/>
              <a:gd name="connsiteY3" fmla="*/ 601223 h 715970"/>
              <a:gd name="connsiteX0" fmla="*/ 0 w 1007533"/>
              <a:gd name="connsiteY0" fmla="*/ 601141 h 716545"/>
              <a:gd name="connsiteX1" fmla="*/ 486834 w 1007533"/>
              <a:gd name="connsiteY1" fmla="*/ 6 h 716545"/>
              <a:gd name="connsiteX2" fmla="*/ 1007533 w 1007533"/>
              <a:gd name="connsiteY2" fmla="*/ 601141 h 716545"/>
              <a:gd name="connsiteX3" fmla="*/ 0 w 1007533"/>
              <a:gd name="connsiteY3" fmla="*/ 601141 h 71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533" h="716545">
                <a:moveTo>
                  <a:pt x="0" y="601141"/>
                </a:moveTo>
                <a:cubicBezTo>
                  <a:pt x="328788" y="1052696"/>
                  <a:pt x="327378" y="14117"/>
                  <a:pt x="486834" y="6"/>
                </a:cubicBezTo>
                <a:cubicBezTo>
                  <a:pt x="671690" y="-2818"/>
                  <a:pt x="678743" y="1061164"/>
                  <a:pt x="1007533" y="601141"/>
                </a:cubicBezTo>
                <a:lnTo>
                  <a:pt x="0" y="601141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629582A-1F93-4CA5-8616-CE4031D52B6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487333" y="2754024"/>
            <a:ext cx="38852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EC87D7A-2214-4A6B-A29E-33515852B98D}"/>
              </a:ext>
            </a:extLst>
          </p:cNvPr>
          <p:cNvSpPr txBox="1"/>
          <p:nvPr/>
        </p:nvSpPr>
        <p:spPr>
          <a:xfrm>
            <a:off x="4048142" y="2316129"/>
            <a:ext cx="878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C00000"/>
                </a:solidFill>
              </a:rPr>
              <a:t>rf.delay</a:t>
            </a:r>
            <a:endParaRPr lang="de-DE" dirty="0">
              <a:solidFill>
                <a:srgbClr val="C00000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90D3386-9946-4EAF-BBC4-9EE97D249702}"/>
              </a:ext>
            </a:extLst>
          </p:cNvPr>
          <p:cNvSpPr txBox="1"/>
          <p:nvPr/>
        </p:nvSpPr>
        <p:spPr>
          <a:xfrm>
            <a:off x="7239000" y="3103505"/>
            <a:ext cx="501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rf.ringdown_time</a:t>
            </a:r>
            <a:r>
              <a:rPr lang="de-DE" dirty="0">
                <a:solidFill>
                  <a:srgbClr val="00B050"/>
                </a:solidFill>
              </a:rPr>
              <a:t>  </a:t>
            </a:r>
            <a:r>
              <a:rPr lang="de-DE" dirty="0" err="1">
                <a:solidFill>
                  <a:srgbClr val="00B050"/>
                </a:solidFill>
              </a:rPr>
              <a:t>is</a:t>
            </a:r>
            <a:r>
              <a:rPr lang="de-DE" dirty="0">
                <a:solidFill>
                  <a:srgbClr val="00B050"/>
                </a:solidFill>
              </a:rPr>
              <a:t> not </a:t>
            </a:r>
            <a:r>
              <a:rPr lang="de-DE" dirty="0" err="1">
                <a:solidFill>
                  <a:srgbClr val="00B050"/>
                </a:solidFill>
              </a:rPr>
              <a:t>dependent</a:t>
            </a:r>
            <a:r>
              <a:rPr lang="de-DE" dirty="0">
                <a:solidFill>
                  <a:srgbClr val="00B050"/>
                </a:solidFill>
              </a:rPr>
              <a:t> on </a:t>
            </a:r>
            <a:r>
              <a:rPr lang="de-DE" dirty="0" err="1">
                <a:solidFill>
                  <a:srgbClr val="00B050"/>
                </a:solidFill>
              </a:rPr>
              <a:t>the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gradient</a:t>
            </a:r>
            <a:endParaRPr lang="de-DE" dirty="0">
              <a:solidFill>
                <a:srgbClr val="00B050"/>
              </a:solidFill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DBA87E4-0579-4F64-811D-B0D7AACFDD4C}"/>
              </a:ext>
            </a:extLst>
          </p:cNvPr>
          <p:cNvCxnSpPr>
            <a:cxnSpLocks/>
          </p:cNvCxnSpPr>
          <p:nvPr/>
        </p:nvCxnSpPr>
        <p:spPr>
          <a:xfrm>
            <a:off x="7039562" y="2754024"/>
            <a:ext cx="19943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E0118288-6AF4-4BE0-9967-5252CBBF02C0}"/>
              </a:ext>
            </a:extLst>
          </p:cNvPr>
          <p:cNvSpPr txBox="1"/>
          <p:nvPr/>
        </p:nvSpPr>
        <p:spPr>
          <a:xfrm>
            <a:off x="4048142" y="3536781"/>
            <a:ext cx="571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C00000"/>
                </a:solidFill>
              </a:rPr>
              <a:t>rf.delay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is</a:t>
            </a:r>
            <a:r>
              <a:rPr lang="de-DE" dirty="0">
                <a:solidFill>
                  <a:srgbClr val="C00000"/>
                </a:solidFill>
              </a:rPr>
              <a:t> limited </a:t>
            </a:r>
            <a:r>
              <a:rPr lang="de-DE" dirty="0" err="1">
                <a:solidFill>
                  <a:srgbClr val="C00000"/>
                </a:solidFill>
              </a:rPr>
              <a:t>by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max</a:t>
            </a:r>
            <a:r>
              <a:rPr lang="de-DE" dirty="0">
                <a:solidFill>
                  <a:srgbClr val="C00000"/>
                </a:solidFill>
              </a:rPr>
              <a:t>(</a:t>
            </a:r>
            <a:r>
              <a:rPr lang="de-DE" dirty="0" err="1">
                <a:solidFill>
                  <a:srgbClr val="C00000"/>
                </a:solidFill>
              </a:rPr>
              <a:t>gradient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ramp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up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or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rf.dead_time</a:t>
            </a:r>
            <a:endParaRPr lang="de-DE" dirty="0">
              <a:solidFill>
                <a:srgbClr val="C00000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F50D63E-8ACD-4354-9558-454F9527685A}"/>
              </a:ext>
            </a:extLst>
          </p:cNvPr>
          <p:cNvSpPr txBox="1"/>
          <p:nvPr/>
        </p:nvSpPr>
        <p:spPr>
          <a:xfrm>
            <a:off x="7223139" y="2513989"/>
            <a:ext cx="181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rf.ringdown_time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5C15E34-6E30-45FC-B55A-76EDA6CA5FF4}"/>
              </a:ext>
            </a:extLst>
          </p:cNvPr>
          <p:cNvSpPr txBox="1"/>
          <p:nvPr/>
        </p:nvSpPr>
        <p:spPr>
          <a:xfrm>
            <a:off x="41931" y="92801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sinc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8290699-FEAA-40DD-997C-5492C32D088E}"/>
              </a:ext>
            </a:extLst>
          </p:cNvPr>
          <p:cNvSpPr txBox="1"/>
          <p:nvPr/>
        </p:nvSpPr>
        <p:spPr>
          <a:xfrm>
            <a:off x="315403" y="179547"/>
            <a:ext cx="5430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 err="1"/>
              <a:t>rf</a:t>
            </a:r>
            <a:r>
              <a:rPr lang="de-DE" sz="2800" b="1" dirty="0"/>
              <a:t> </a:t>
            </a:r>
            <a:r>
              <a:rPr lang="de-DE" sz="2800" b="1" dirty="0" err="1"/>
              <a:t>pulses</a:t>
            </a:r>
            <a:r>
              <a:rPr lang="de-DE" sz="2800" b="1" dirty="0"/>
              <a:t> in </a:t>
            </a:r>
            <a:r>
              <a:rPr lang="de-DE" sz="2800" b="1" dirty="0" err="1"/>
              <a:t>Pulseq</a:t>
            </a:r>
            <a:r>
              <a:rPr lang="de-DE" sz="2800" b="1" dirty="0"/>
              <a:t> and block </a:t>
            </a:r>
            <a:r>
              <a:rPr lang="de-DE" sz="2800" b="1" dirty="0" err="1"/>
              <a:t>length</a:t>
            </a:r>
            <a:endParaRPr lang="de-DE" sz="2800"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C9ACE7-F45C-4039-87E2-2F8269C686AC}"/>
              </a:ext>
            </a:extLst>
          </p:cNvPr>
          <p:cNvSpPr txBox="1"/>
          <p:nvPr/>
        </p:nvSpPr>
        <p:spPr>
          <a:xfrm>
            <a:off x="2297886" y="4623839"/>
            <a:ext cx="67394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pp.calc_duration</a:t>
            </a:r>
            <a:r>
              <a:rPr lang="de-DE" dirty="0"/>
              <a:t>(</a:t>
            </a:r>
            <a:r>
              <a:rPr lang="de-DE" dirty="0" err="1"/>
              <a:t>rf</a:t>
            </a:r>
            <a:r>
              <a:rPr lang="de-DE" dirty="0"/>
              <a:t>)=   </a:t>
            </a:r>
            <a:r>
              <a:rPr lang="de-DE" dirty="0" err="1">
                <a:solidFill>
                  <a:srgbClr val="C00000"/>
                </a:solidFill>
              </a:rPr>
              <a:t>rf.delay</a:t>
            </a:r>
            <a:r>
              <a:rPr lang="de-DE" dirty="0">
                <a:solidFill>
                  <a:srgbClr val="C00000"/>
                </a:solidFill>
              </a:rPr>
              <a:t>+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duration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>
                <a:solidFill>
                  <a:srgbClr val="C00000"/>
                </a:solidFill>
              </a:rPr>
              <a:t>+</a:t>
            </a:r>
            <a:r>
              <a:rPr lang="de-DE" dirty="0" err="1">
                <a:solidFill>
                  <a:srgbClr val="00B050"/>
                </a:solidFill>
              </a:rPr>
              <a:t>rf.ringdown_time</a:t>
            </a:r>
            <a:endParaRPr lang="de-DE" dirty="0">
              <a:solidFill>
                <a:srgbClr val="00B050"/>
              </a:solidFill>
            </a:endParaRPr>
          </a:p>
          <a:p>
            <a:endParaRPr lang="de-DE" dirty="0">
              <a:solidFill>
                <a:srgbClr val="C00000"/>
              </a:solidFill>
            </a:endParaRPr>
          </a:p>
          <a:p>
            <a:r>
              <a:rPr lang="de-DE" dirty="0" err="1"/>
              <a:t>pp.calc_duration</a:t>
            </a:r>
            <a:r>
              <a:rPr lang="de-DE" dirty="0"/>
              <a:t>(</a:t>
            </a:r>
            <a:r>
              <a:rPr lang="de-DE" dirty="0" err="1"/>
              <a:t>rf,gz</a:t>
            </a:r>
            <a:r>
              <a:rPr lang="de-DE" dirty="0"/>
              <a:t>) = </a:t>
            </a:r>
            <a:r>
              <a:rPr lang="de-DE" dirty="0" err="1">
                <a:solidFill>
                  <a:srgbClr val="0070C0"/>
                </a:solidFill>
              </a:rPr>
              <a:t>gz.duration</a:t>
            </a:r>
            <a:endParaRPr lang="de-DE" dirty="0">
              <a:solidFill>
                <a:srgbClr val="0070C0"/>
              </a:solidFill>
            </a:endParaRPr>
          </a:p>
          <a:p>
            <a:r>
              <a:rPr lang="de-DE" dirty="0">
                <a:solidFill>
                  <a:srgbClr val="C00000"/>
                </a:solidFill>
              </a:rPr>
              <a:t> </a:t>
            </a:r>
          </a:p>
          <a:p>
            <a:endParaRPr lang="de-DE" dirty="0">
              <a:solidFill>
                <a:srgbClr val="FF0000"/>
              </a:solidFill>
            </a:endParaRPr>
          </a:p>
          <a:p>
            <a:endParaRPr lang="de-DE" dirty="0">
              <a:solidFill>
                <a:srgbClr val="C00000"/>
              </a:solidFill>
            </a:endParaRPr>
          </a:p>
          <a:p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4CCD5C83-A930-4B73-9FEF-773AB6BEB432}"/>
              </a:ext>
            </a:extLst>
          </p:cNvPr>
          <p:cNvSpPr/>
          <p:nvPr/>
        </p:nvSpPr>
        <p:spPr>
          <a:xfrm>
            <a:off x="381000" y="3089853"/>
            <a:ext cx="2827868" cy="772377"/>
          </a:xfrm>
          <a:prstGeom prst="trapezoid">
            <a:avLst>
              <a:gd name="adj" fmla="val 437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gz</a:t>
            </a:r>
            <a:endParaRPr lang="de-DE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A07C062-4BC8-497B-898E-81EC82C354D5}"/>
              </a:ext>
            </a:extLst>
          </p:cNvPr>
          <p:cNvSpPr txBox="1"/>
          <p:nvPr/>
        </p:nvSpPr>
        <p:spPr>
          <a:xfrm>
            <a:off x="8280400" y="4623839"/>
            <a:ext cx="353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RF </a:t>
            </a:r>
            <a:r>
              <a:rPr lang="de-DE" b="1" dirty="0" err="1">
                <a:solidFill>
                  <a:srgbClr val="FF0000"/>
                </a:solidFill>
              </a:rPr>
              <a:t>is</a:t>
            </a:r>
            <a:r>
              <a:rPr lang="de-DE" b="1" dirty="0">
                <a:solidFill>
                  <a:srgbClr val="FF0000"/>
                </a:solidFill>
              </a:rPr>
              <a:t> NOT </a:t>
            </a:r>
            <a:r>
              <a:rPr lang="de-DE" b="1" dirty="0" err="1">
                <a:solidFill>
                  <a:srgbClr val="FF0000"/>
                </a:solidFill>
              </a:rPr>
              <a:t>centered</a:t>
            </a:r>
            <a:r>
              <a:rPr lang="de-DE" b="1" dirty="0">
                <a:solidFill>
                  <a:srgbClr val="FF0000"/>
                </a:solidFill>
              </a:rPr>
              <a:t> in </a:t>
            </a:r>
            <a:r>
              <a:rPr lang="de-DE" b="1" dirty="0" err="1">
                <a:solidFill>
                  <a:srgbClr val="FF0000"/>
                </a:solidFill>
              </a:rPr>
              <a:t>its</a:t>
            </a:r>
            <a:r>
              <a:rPr lang="de-DE" b="1" dirty="0">
                <a:solidFill>
                  <a:srgbClr val="FF0000"/>
                </a:solidFill>
              </a:rPr>
              <a:t> own block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AEB82CF-2F62-490B-80AE-B6AB3C7F5961}"/>
              </a:ext>
            </a:extLst>
          </p:cNvPr>
          <p:cNvSpPr txBox="1"/>
          <p:nvPr/>
        </p:nvSpPr>
        <p:spPr>
          <a:xfrm>
            <a:off x="8280400" y="5133315"/>
            <a:ext cx="319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RF </a:t>
            </a:r>
            <a:r>
              <a:rPr lang="de-DE" b="1" dirty="0" err="1">
                <a:solidFill>
                  <a:srgbClr val="FF0000"/>
                </a:solidFill>
              </a:rPr>
              <a:t>is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centered</a:t>
            </a:r>
            <a:r>
              <a:rPr lang="de-DE" b="1" dirty="0">
                <a:solidFill>
                  <a:srgbClr val="FF0000"/>
                </a:solidFill>
              </a:rPr>
              <a:t> in </a:t>
            </a:r>
            <a:r>
              <a:rPr lang="de-DE" b="1" dirty="0" err="1">
                <a:solidFill>
                  <a:srgbClr val="FF0000"/>
                </a:solidFill>
              </a:rPr>
              <a:t>the</a:t>
            </a:r>
            <a:r>
              <a:rPr lang="de-DE" b="1" dirty="0">
                <a:solidFill>
                  <a:srgbClr val="FF0000"/>
                </a:solidFill>
              </a:rPr>
              <a:t> block </a:t>
            </a:r>
            <a:r>
              <a:rPr lang="de-DE" b="1" dirty="0" err="1">
                <a:solidFill>
                  <a:srgbClr val="FF0000"/>
                </a:solidFill>
              </a:rPr>
              <a:t>rf,gz</a:t>
            </a:r>
            <a:r>
              <a:rPr lang="de-DE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302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leichschenkliges Dreieck 6">
            <a:extLst>
              <a:ext uri="{FF2B5EF4-FFF2-40B4-BE49-F238E27FC236}">
                <a16:creationId xmlns:a16="http://schemas.microsoft.com/office/drawing/2014/main" id="{602DFEB8-51D2-4A1C-B41A-4B186AD92583}"/>
              </a:ext>
            </a:extLst>
          </p:cNvPr>
          <p:cNvSpPr/>
          <p:nvPr/>
        </p:nvSpPr>
        <p:spPr>
          <a:xfrm>
            <a:off x="710798" y="1371870"/>
            <a:ext cx="2163704" cy="1592322"/>
          </a:xfrm>
          <a:custGeom>
            <a:avLst/>
            <a:gdLst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34894"/>
              <a:gd name="connsiteX1" fmla="*/ 503767 w 1007533"/>
              <a:gd name="connsiteY1" fmla="*/ 5 h 934894"/>
              <a:gd name="connsiteX2" fmla="*/ 1007533 w 1007533"/>
              <a:gd name="connsiteY2" fmla="*/ 804339 h 934894"/>
              <a:gd name="connsiteX3" fmla="*/ 0 w 1007533"/>
              <a:gd name="connsiteY3" fmla="*/ 804339 h 934894"/>
              <a:gd name="connsiteX0" fmla="*/ 0 w 1007533"/>
              <a:gd name="connsiteY0" fmla="*/ 804339 h 927821"/>
              <a:gd name="connsiteX1" fmla="*/ 503767 w 1007533"/>
              <a:gd name="connsiteY1" fmla="*/ 5 h 927821"/>
              <a:gd name="connsiteX2" fmla="*/ 1007533 w 1007533"/>
              <a:gd name="connsiteY2" fmla="*/ 804339 h 927821"/>
              <a:gd name="connsiteX3" fmla="*/ 0 w 1007533"/>
              <a:gd name="connsiteY3" fmla="*/ 804339 h 927821"/>
              <a:gd name="connsiteX0" fmla="*/ 0 w 1007533"/>
              <a:gd name="connsiteY0" fmla="*/ 804339 h 904929"/>
              <a:gd name="connsiteX1" fmla="*/ 503767 w 1007533"/>
              <a:gd name="connsiteY1" fmla="*/ 5 h 904929"/>
              <a:gd name="connsiteX2" fmla="*/ 1007533 w 1007533"/>
              <a:gd name="connsiteY2" fmla="*/ 804339 h 904929"/>
              <a:gd name="connsiteX3" fmla="*/ 0 w 1007533"/>
              <a:gd name="connsiteY3" fmla="*/ 804339 h 904929"/>
              <a:gd name="connsiteX0" fmla="*/ 0 w 1007533"/>
              <a:gd name="connsiteY0" fmla="*/ 440275 h 570890"/>
              <a:gd name="connsiteX1" fmla="*/ 503767 w 1007533"/>
              <a:gd name="connsiteY1" fmla="*/ 7 h 570890"/>
              <a:gd name="connsiteX2" fmla="*/ 1007533 w 1007533"/>
              <a:gd name="connsiteY2" fmla="*/ 440275 h 570890"/>
              <a:gd name="connsiteX3" fmla="*/ 0 w 1007533"/>
              <a:gd name="connsiteY3" fmla="*/ 440275 h 570890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601223 h 715970"/>
              <a:gd name="connsiteX1" fmla="*/ 486834 w 1007533"/>
              <a:gd name="connsiteY1" fmla="*/ 88 h 715970"/>
              <a:gd name="connsiteX2" fmla="*/ 1007533 w 1007533"/>
              <a:gd name="connsiteY2" fmla="*/ 601223 h 715970"/>
              <a:gd name="connsiteX3" fmla="*/ 0 w 1007533"/>
              <a:gd name="connsiteY3" fmla="*/ 601223 h 715970"/>
              <a:gd name="connsiteX0" fmla="*/ 0 w 1007533"/>
              <a:gd name="connsiteY0" fmla="*/ 601141 h 716545"/>
              <a:gd name="connsiteX1" fmla="*/ 486834 w 1007533"/>
              <a:gd name="connsiteY1" fmla="*/ 6 h 716545"/>
              <a:gd name="connsiteX2" fmla="*/ 1007533 w 1007533"/>
              <a:gd name="connsiteY2" fmla="*/ 601141 h 716545"/>
              <a:gd name="connsiteX3" fmla="*/ 0 w 1007533"/>
              <a:gd name="connsiteY3" fmla="*/ 601141 h 71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533" h="716545">
                <a:moveTo>
                  <a:pt x="0" y="601141"/>
                </a:moveTo>
                <a:cubicBezTo>
                  <a:pt x="328788" y="1052696"/>
                  <a:pt x="327378" y="14117"/>
                  <a:pt x="486834" y="6"/>
                </a:cubicBezTo>
                <a:cubicBezTo>
                  <a:pt x="671690" y="-2818"/>
                  <a:pt x="678743" y="1061164"/>
                  <a:pt x="1007533" y="601141"/>
                </a:cubicBezTo>
                <a:lnTo>
                  <a:pt x="0" y="601141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sp>
        <p:nvSpPr>
          <p:cNvPr id="8" name="Gleichschenkliges Dreieck 6">
            <a:extLst>
              <a:ext uri="{FF2B5EF4-FFF2-40B4-BE49-F238E27FC236}">
                <a16:creationId xmlns:a16="http://schemas.microsoft.com/office/drawing/2014/main" id="{A5E3B951-A9D0-46EC-ABA8-611109E7EC29}"/>
              </a:ext>
            </a:extLst>
          </p:cNvPr>
          <p:cNvSpPr/>
          <p:nvPr/>
        </p:nvSpPr>
        <p:spPr>
          <a:xfrm>
            <a:off x="4875858" y="1418155"/>
            <a:ext cx="2163704" cy="1592322"/>
          </a:xfrm>
          <a:custGeom>
            <a:avLst/>
            <a:gdLst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34894"/>
              <a:gd name="connsiteX1" fmla="*/ 503767 w 1007533"/>
              <a:gd name="connsiteY1" fmla="*/ 5 h 934894"/>
              <a:gd name="connsiteX2" fmla="*/ 1007533 w 1007533"/>
              <a:gd name="connsiteY2" fmla="*/ 804339 h 934894"/>
              <a:gd name="connsiteX3" fmla="*/ 0 w 1007533"/>
              <a:gd name="connsiteY3" fmla="*/ 804339 h 934894"/>
              <a:gd name="connsiteX0" fmla="*/ 0 w 1007533"/>
              <a:gd name="connsiteY0" fmla="*/ 804339 h 927821"/>
              <a:gd name="connsiteX1" fmla="*/ 503767 w 1007533"/>
              <a:gd name="connsiteY1" fmla="*/ 5 h 927821"/>
              <a:gd name="connsiteX2" fmla="*/ 1007533 w 1007533"/>
              <a:gd name="connsiteY2" fmla="*/ 804339 h 927821"/>
              <a:gd name="connsiteX3" fmla="*/ 0 w 1007533"/>
              <a:gd name="connsiteY3" fmla="*/ 804339 h 927821"/>
              <a:gd name="connsiteX0" fmla="*/ 0 w 1007533"/>
              <a:gd name="connsiteY0" fmla="*/ 804339 h 904929"/>
              <a:gd name="connsiteX1" fmla="*/ 503767 w 1007533"/>
              <a:gd name="connsiteY1" fmla="*/ 5 h 904929"/>
              <a:gd name="connsiteX2" fmla="*/ 1007533 w 1007533"/>
              <a:gd name="connsiteY2" fmla="*/ 804339 h 904929"/>
              <a:gd name="connsiteX3" fmla="*/ 0 w 1007533"/>
              <a:gd name="connsiteY3" fmla="*/ 804339 h 904929"/>
              <a:gd name="connsiteX0" fmla="*/ 0 w 1007533"/>
              <a:gd name="connsiteY0" fmla="*/ 440275 h 570890"/>
              <a:gd name="connsiteX1" fmla="*/ 503767 w 1007533"/>
              <a:gd name="connsiteY1" fmla="*/ 7 h 570890"/>
              <a:gd name="connsiteX2" fmla="*/ 1007533 w 1007533"/>
              <a:gd name="connsiteY2" fmla="*/ 440275 h 570890"/>
              <a:gd name="connsiteX3" fmla="*/ 0 w 1007533"/>
              <a:gd name="connsiteY3" fmla="*/ 440275 h 570890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601223 h 715970"/>
              <a:gd name="connsiteX1" fmla="*/ 486834 w 1007533"/>
              <a:gd name="connsiteY1" fmla="*/ 88 h 715970"/>
              <a:gd name="connsiteX2" fmla="*/ 1007533 w 1007533"/>
              <a:gd name="connsiteY2" fmla="*/ 601223 h 715970"/>
              <a:gd name="connsiteX3" fmla="*/ 0 w 1007533"/>
              <a:gd name="connsiteY3" fmla="*/ 601223 h 715970"/>
              <a:gd name="connsiteX0" fmla="*/ 0 w 1007533"/>
              <a:gd name="connsiteY0" fmla="*/ 601141 h 716545"/>
              <a:gd name="connsiteX1" fmla="*/ 486834 w 1007533"/>
              <a:gd name="connsiteY1" fmla="*/ 6 h 716545"/>
              <a:gd name="connsiteX2" fmla="*/ 1007533 w 1007533"/>
              <a:gd name="connsiteY2" fmla="*/ 601141 h 716545"/>
              <a:gd name="connsiteX3" fmla="*/ 0 w 1007533"/>
              <a:gd name="connsiteY3" fmla="*/ 601141 h 71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533" h="716545">
                <a:moveTo>
                  <a:pt x="0" y="601141"/>
                </a:moveTo>
                <a:cubicBezTo>
                  <a:pt x="328788" y="1052696"/>
                  <a:pt x="327378" y="14117"/>
                  <a:pt x="486834" y="6"/>
                </a:cubicBezTo>
                <a:cubicBezTo>
                  <a:pt x="671690" y="-2818"/>
                  <a:pt x="678743" y="1061164"/>
                  <a:pt x="1007533" y="601141"/>
                </a:cubicBezTo>
                <a:lnTo>
                  <a:pt x="0" y="601141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629582A-1F93-4CA5-8616-CE4031D52B6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487333" y="2754024"/>
            <a:ext cx="38852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EC87D7A-2214-4A6B-A29E-33515852B98D}"/>
              </a:ext>
            </a:extLst>
          </p:cNvPr>
          <p:cNvSpPr txBox="1"/>
          <p:nvPr/>
        </p:nvSpPr>
        <p:spPr>
          <a:xfrm>
            <a:off x="4048142" y="2316129"/>
            <a:ext cx="878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C00000"/>
                </a:solidFill>
              </a:rPr>
              <a:t>rf.delay</a:t>
            </a:r>
            <a:endParaRPr lang="de-DE" dirty="0">
              <a:solidFill>
                <a:srgbClr val="C00000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90D3386-9946-4EAF-BBC4-9EE97D249702}"/>
              </a:ext>
            </a:extLst>
          </p:cNvPr>
          <p:cNvSpPr txBox="1"/>
          <p:nvPr/>
        </p:nvSpPr>
        <p:spPr>
          <a:xfrm>
            <a:off x="7239000" y="3103505"/>
            <a:ext cx="501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rf.ringdown_time</a:t>
            </a:r>
            <a:r>
              <a:rPr lang="de-DE" dirty="0">
                <a:solidFill>
                  <a:srgbClr val="00B050"/>
                </a:solidFill>
              </a:rPr>
              <a:t>  </a:t>
            </a:r>
            <a:r>
              <a:rPr lang="de-DE" dirty="0" err="1">
                <a:solidFill>
                  <a:srgbClr val="00B050"/>
                </a:solidFill>
              </a:rPr>
              <a:t>is</a:t>
            </a:r>
            <a:r>
              <a:rPr lang="de-DE" dirty="0">
                <a:solidFill>
                  <a:srgbClr val="00B050"/>
                </a:solidFill>
              </a:rPr>
              <a:t> not </a:t>
            </a:r>
            <a:r>
              <a:rPr lang="de-DE" dirty="0" err="1">
                <a:solidFill>
                  <a:srgbClr val="00B050"/>
                </a:solidFill>
              </a:rPr>
              <a:t>dependent</a:t>
            </a:r>
            <a:r>
              <a:rPr lang="de-DE" dirty="0">
                <a:solidFill>
                  <a:srgbClr val="00B050"/>
                </a:solidFill>
              </a:rPr>
              <a:t> on </a:t>
            </a:r>
            <a:r>
              <a:rPr lang="de-DE" dirty="0" err="1">
                <a:solidFill>
                  <a:srgbClr val="00B050"/>
                </a:solidFill>
              </a:rPr>
              <a:t>the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gradient</a:t>
            </a:r>
            <a:endParaRPr lang="de-DE" dirty="0">
              <a:solidFill>
                <a:srgbClr val="00B050"/>
              </a:solidFill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DBA87E4-0579-4F64-811D-B0D7AACFDD4C}"/>
              </a:ext>
            </a:extLst>
          </p:cNvPr>
          <p:cNvCxnSpPr>
            <a:cxnSpLocks/>
          </p:cNvCxnSpPr>
          <p:nvPr/>
        </p:nvCxnSpPr>
        <p:spPr>
          <a:xfrm>
            <a:off x="7039562" y="2754024"/>
            <a:ext cx="19943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E0118288-6AF4-4BE0-9967-5252CBBF02C0}"/>
              </a:ext>
            </a:extLst>
          </p:cNvPr>
          <p:cNvSpPr txBox="1"/>
          <p:nvPr/>
        </p:nvSpPr>
        <p:spPr>
          <a:xfrm>
            <a:off x="4048142" y="3536781"/>
            <a:ext cx="571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C00000"/>
                </a:solidFill>
              </a:rPr>
              <a:t>rf.delay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is</a:t>
            </a:r>
            <a:r>
              <a:rPr lang="de-DE" dirty="0">
                <a:solidFill>
                  <a:srgbClr val="C00000"/>
                </a:solidFill>
              </a:rPr>
              <a:t> limited </a:t>
            </a:r>
            <a:r>
              <a:rPr lang="de-DE" dirty="0" err="1">
                <a:solidFill>
                  <a:srgbClr val="C00000"/>
                </a:solidFill>
              </a:rPr>
              <a:t>by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max</a:t>
            </a:r>
            <a:r>
              <a:rPr lang="de-DE" dirty="0">
                <a:solidFill>
                  <a:srgbClr val="C00000"/>
                </a:solidFill>
              </a:rPr>
              <a:t>(</a:t>
            </a:r>
            <a:r>
              <a:rPr lang="de-DE" dirty="0" err="1">
                <a:solidFill>
                  <a:srgbClr val="C00000"/>
                </a:solidFill>
              </a:rPr>
              <a:t>gradient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ramp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up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or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rf.dead_time</a:t>
            </a:r>
            <a:endParaRPr lang="de-DE" dirty="0">
              <a:solidFill>
                <a:srgbClr val="C00000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F50D63E-8ACD-4354-9558-454F9527685A}"/>
              </a:ext>
            </a:extLst>
          </p:cNvPr>
          <p:cNvSpPr txBox="1"/>
          <p:nvPr/>
        </p:nvSpPr>
        <p:spPr>
          <a:xfrm>
            <a:off x="7223139" y="2513989"/>
            <a:ext cx="181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rf.ringdown_time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5C15E34-6E30-45FC-B55A-76EDA6CA5FF4}"/>
              </a:ext>
            </a:extLst>
          </p:cNvPr>
          <p:cNvSpPr txBox="1"/>
          <p:nvPr/>
        </p:nvSpPr>
        <p:spPr>
          <a:xfrm>
            <a:off x="41931" y="92801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sinc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8290699-FEAA-40DD-997C-5492C32D088E}"/>
              </a:ext>
            </a:extLst>
          </p:cNvPr>
          <p:cNvSpPr txBox="1"/>
          <p:nvPr/>
        </p:nvSpPr>
        <p:spPr>
          <a:xfrm>
            <a:off x="315403" y="179547"/>
            <a:ext cx="9941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 err="1"/>
              <a:t>rf</a:t>
            </a:r>
            <a:r>
              <a:rPr lang="de-DE" sz="2800" b="1" dirty="0"/>
              <a:t> </a:t>
            </a:r>
            <a:r>
              <a:rPr lang="de-DE" sz="2800" b="1" dirty="0" err="1"/>
              <a:t>pulses</a:t>
            </a:r>
            <a:r>
              <a:rPr lang="de-DE" sz="2800" b="1" dirty="0"/>
              <a:t> in </a:t>
            </a:r>
            <a:r>
              <a:rPr lang="de-DE" sz="2800" b="1" dirty="0" err="1"/>
              <a:t>Pulseq</a:t>
            </a:r>
            <a:r>
              <a:rPr lang="de-DE" sz="2800" b="1" dirty="0"/>
              <a:t> and block </a:t>
            </a:r>
            <a:r>
              <a:rPr lang="de-DE" sz="2800" b="1" dirty="0" err="1"/>
              <a:t>length</a:t>
            </a:r>
            <a:r>
              <a:rPr lang="de-DE" sz="2800" b="1" dirty="0"/>
              <a:t> -  </a:t>
            </a:r>
            <a:r>
              <a:rPr lang="de-DE" sz="2800" b="1" dirty="0" err="1"/>
              <a:t>with</a:t>
            </a:r>
            <a:r>
              <a:rPr lang="de-DE" sz="2800" b="1" dirty="0"/>
              <a:t> slice </a:t>
            </a:r>
            <a:r>
              <a:rPr lang="de-DE" sz="2800" b="1" dirty="0" err="1"/>
              <a:t>selection</a:t>
            </a:r>
            <a:r>
              <a:rPr lang="de-DE" sz="2800" b="1" dirty="0"/>
              <a:t> </a:t>
            </a:r>
            <a:r>
              <a:rPr lang="de-DE" sz="2800" b="1" dirty="0" err="1"/>
              <a:t>gradient</a:t>
            </a:r>
            <a:endParaRPr lang="de-DE" sz="2800"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C9ACE7-F45C-4039-87E2-2F8269C686AC}"/>
              </a:ext>
            </a:extLst>
          </p:cNvPr>
          <p:cNvSpPr txBox="1"/>
          <p:nvPr/>
        </p:nvSpPr>
        <p:spPr>
          <a:xfrm>
            <a:off x="2297886" y="4623839"/>
            <a:ext cx="67394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pp.calc_duration</a:t>
            </a:r>
            <a:r>
              <a:rPr lang="de-DE" dirty="0"/>
              <a:t>(</a:t>
            </a:r>
            <a:r>
              <a:rPr lang="de-DE" dirty="0" err="1"/>
              <a:t>rf</a:t>
            </a:r>
            <a:r>
              <a:rPr lang="de-DE" dirty="0"/>
              <a:t>)=   </a:t>
            </a:r>
            <a:r>
              <a:rPr lang="de-DE" dirty="0" err="1">
                <a:solidFill>
                  <a:srgbClr val="C00000"/>
                </a:solidFill>
              </a:rPr>
              <a:t>rf.delay</a:t>
            </a:r>
            <a:r>
              <a:rPr lang="de-DE" dirty="0">
                <a:solidFill>
                  <a:srgbClr val="C00000"/>
                </a:solidFill>
              </a:rPr>
              <a:t>+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duration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>
                <a:solidFill>
                  <a:srgbClr val="C00000"/>
                </a:solidFill>
              </a:rPr>
              <a:t>+</a:t>
            </a:r>
            <a:r>
              <a:rPr lang="de-DE" dirty="0" err="1">
                <a:solidFill>
                  <a:srgbClr val="00B050"/>
                </a:solidFill>
              </a:rPr>
              <a:t>rf.ringdown_time</a:t>
            </a:r>
            <a:endParaRPr lang="de-DE" dirty="0">
              <a:solidFill>
                <a:srgbClr val="00B050"/>
              </a:solidFill>
            </a:endParaRPr>
          </a:p>
          <a:p>
            <a:endParaRPr lang="de-DE" dirty="0">
              <a:solidFill>
                <a:srgbClr val="C00000"/>
              </a:solidFill>
            </a:endParaRPr>
          </a:p>
          <a:p>
            <a:r>
              <a:rPr lang="de-DE" dirty="0" err="1"/>
              <a:t>pp.calc_duration</a:t>
            </a:r>
            <a:r>
              <a:rPr lang="de-DE" dirty="0"/>
              <a:t>(</a:t>
            </a:r>
            <a:r>
              <a:rPr lang="de-DE" dirty="0" err="1"/>
              <a:t>rf,gz</a:t>
            </a:r>
            <a:r>
              <a:rPr lang="de-DE" dirty="0"/>
              <a:t>) = </a:t>
            </a:r>
            <a:r>
              <a:rPr lang="de-DE" dirty="0" err="1">
                <a:solidFill>
                  <a:srgbClr val="0070C0"/>
                </a:solidFill>
              </a:rPr>
              <a:t>gz.duration</a:t>
            </a:r>
            <a:endParaRPr lang="de-DE" dirty="0">
              <a:solidFill>
                <a:srgbClr val="0070C0"/>
              </a:solidFill>
            </a:endParaRPr>
          </a:p>
          <a:p>
            <a:r>
              <a:rPr lang="de-DE" dirty="0">
                <a:solidFill>
                  <a:srgbClr val="C00000"/>
                </a:solidFill>
              </a:rPr>
              <a:t> </a:t>
            </a:r>
          </a:p>
          <a:p>
            <a:endParaRPr lang="de-DE" dirty="0">
              <a:solidFill>
                <a:srgbClr val="FF0000"/>
              </a:solidFill>
            </a:endParaRPr>
          </a:p>
          <a:p>
            <a:endParaRPr lang="de-DE" dirty="0">
              <a:solidFill>
                <a:srgbClr val="C00000"/>
              </a:solidFill>
            </a:endParaRPr>
          </a:p>
          <a:p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4CCD5C83-A930-4B73-9FEF-773AB6BEB432}"/>
              </a:ext>
            </a:extLst>
          </p:cNvPr>
          <p:cNvSpPr/>
          <p:nvPr/>
        </p:nvSpPr>
        <p:spPr>
          <a:xfrm>
            <a:off x="381000" y="3089853"/>
            <a:ext cx="2827868" cy="772377"/>
          </a:xfrm>
          <a:prstGeom prst="trapezoid">
            <a:avLst>
              <a:gd name="adj" fmla="val 437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gz</a:t>
            </a:r>
            <a:endParaRPr lang="de-DE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A07C062-4BC8-497B-898E-81EC82C354D5}"/>
              </a:ext>
            </a:extLst>
          </p:cNvPr>
          <p:cNvSpPr txBox="1"/>
          <p:nvPr/>
        </p:nvSpPr>
        <p:spPr>
          <a:xfrm>
            <a:off x="8280400" y="4623839"/>
            <a:ext cx="353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RF </a:t>
            </a:r>
            <a:r>
              <a:rPr lang="de-DE" b="1" dirty="0" err="1">
                <a:solidFill>
                  <a:srgbClr val="FF0000"/>
                </a:solidFill>
              </a:rPr>
              <a:t>is</a:t>
            </a:r>
            <a:r>
              <a:rPr lang="de-DE" b="1" dirty="0">
                <a:solidFill>
                  <a:srgbClr val="FF0000"/>
                </a:solidFill>
              </a:rPr>
              <a:t> NOT </a:t>
            </a:r>
            <a:r>
              <a:rPr lang="de-DE" b="1" dirty="0" err="1">
                <a:solidFill>
                  <a:srgbClr val="FF0000"/>
                </a:solidFill>
              </a:rPr>
              <a:t>centered</a:t>
            </a:r>
            <a:r>
              <a:rPr lang="de-DE" b="1" dirty="0">
                <a:solidFill>
                  <a:srgbClr val="FF0000"/>
                </a:solidFill>
              </a:rPr>
              <a:t> in </a:t>
            </a:r>
            <a:r>
              <a:rPr lang="de-DE" b="1" dirty="0" err="1">
                <a:solidFill>
                  <a:srgbClr val="FF0000"/>
                </a:solidFill>
              </a:rPr>
              <a:t>its</a:t>
            </a:r>
            <a:r>
              <a:rPr lang="de-DE" b="1" dirty="0">
                <a:solidFill>
                  <a:srgbClr val="FF0000"/>
                </a:solidFill>
              </a:rPr>
              <a:t> own block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AEB82CF-2F62-490B-80AE-B6AB3C7F5961}"/>
              </a:ext>
            </a:extLst>
          </p:cNvPr>
          <p:cNvSpPr txBox="1"/>
          <p:nvPr/>
        </p:nvSpPr>
        <p:spPr>
          <a:xfrm>
            <a:off x="8280400" y="5133315"/>
            <a:ext cx="319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RF </a:t>
            </a:r>
            <a:r>
              <a:rPr lang="de-DE" b="1" dirty="0" err="1">
                <a:solidFill>
                  <a:srgbClr val="FF0000"/>
                </a:solidFill>
              </a:rPr>
              <a:t>is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centered</a:t>
            </a:r>
            <a:r>
              <a:rPr lang="de-DE" b="1" dirty="0">
                <a:solidFill>
                  <a:srgbClr val="FF0000"/>
                </a:solidFill>
              </a:rPr>
              <a:t> in </a:t>
            </a:r>
            <a:r>
              <a:rPr lang="de-DE" b="1" dirty="0" err="1">
                <a:solidFill>
                  <a:srgbClr val="FF0000"/>
                </a:solidFill>
              </a:rPr>
              <a:t>the</a:t>
            </a:r>
            <a:r>
              <a:rPr lang="de-DE" b="1" dirty="0">
                <a:solidFill>
                  <a:srgbClr val="FF0000"/>
                </a:solidFill>
              </a:rPr>
              <a:t> block </a:t>
            </a:r>
            <a:r>
              <a:rPr lang="de-DE" b="1" dirty="0" err="1">
                <a:solidFill>
                  <a:srgbClr val="FF0000"/>
                </a:solidFill>
              </a:rPr>
              <a:t>rf,gz</a:t>
            </a:r>
            <a:r>
              <a:rPr lang="de-DE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124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leichschenkliges Dreieck 6">
            <a:extLst>
              <a:ext uri="{FF2B5EF4-FFF2-40B4-BE49-F238E27FC236}">
                <a16:creationId xmlns:a16="http://schemas.microsoft.com/office/drawing/2014/main" id="{A5E3B951-A9D0-46EC-ABA8-611109E7EC29}"/>
              </a:ext>
            </a:extLst>
          </p:cNvPr>
          <p:cNvSpPr/>
          <p:nvPr/>
        </p:nvSpPr>
        <p:spPr>
          <a:xfrm>
            <a:off x="4875858" y="1418155"/>
            <a:ext cx="2163704" cy="1592322"/>
          </a:xfrm>
          <a:custGeom>
            <a:avLst/>
            <a:gdLst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34 h 804334"/>
              <a:gd name="connsiteX1" fmla="*/ 503767 w 1007533"/>
              <a:gd name="connsiteY1" fmla="*/ 0 h 804334"/>
              <a:gd name="connsiteX2" fmla="*/ 1007533 w 1007533"/>
              <a:gd name="connsiteY2" fmla="*/ 804334 h 804334"/>
              <a:gd name="connsiteX3" fmla="*/ 0 w 1007533"/>
              <a:gd name="connsiteY3" fmla="*/ 804334 h 804334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45 h 804345"/>
              <a:gd name="connsiteX1" fmla="*/ 503767 w 1007533"/>
              <a:gd name="connsiteY1" fmla="*/ 11 h 804345"/>
              <a:gd name="connsiteX2" fmla="*/ 1007533 w 1007533"/>
              <a:gd name="connsiteY2" fmla="*/ 804345 h 804345"/>
              <a:gd name="connsiteX3" fmla="*/ 0 w 1007533"/>
              <a:gd name="connsiteY3" fmla="*/ 804345 h 804345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66908"/>
              <a:gd name="connsiteX1" fmla="*/ 503767 w 1007533"/>
              <a:gd name="connsiteY1" fmla="*/ 5 h 966908"/>
              <a:gd name="connsiteX2" fmla="*/ 1007533 w 1007533"/>
              <a:gd name="connsiteY2" fmla="*/ 804339 h 966908"/>
              <a:gd name="connsiteX3" fmla="*/ 0 w 1007533"/>
              <a:gd name="connsiteY3" fmla="*/ 804339 h 966908"/>
              <a:gd name="connsiteX0" fmla="*/ 0 w 1007533"/>
              <a:gd name="connsiteY0" fmla="*/ 804339 h 934894"/>
              <a:gd name="connsiteX1" fmla="*/ 503767 w 1007533"/>
              <a:gd name="connsiteY1" fmla="*/ 5 h 934894"/>
              <a:gd name="connsiteX2" fmla="*/ 1007533 w 1007533"/>
              <a:gd name="connsiteY2" fmla="*/ 804339 h 934894"/>
              <a:gd name="connsiteX3" fmla="*/ 0 w 1007533"/>
              <a:gd name="connsiteY3" fmla="*/ 804339 h 934894"/>
              <a:gd name="connsiteX0" fmla="*/ 0 w 1007533"/>
              <a:gd name="connsiteY0" fmla="*/ 804339 h 927821"/>
              <a:gd name="connsiteX1" fmla="*/ 503767 w 1007533"/>
              <a:gd name="connsiteY1" fmla="*/ 5 h 927821"/>
              <a:gd name="connsiteX2" fmla="*/ 1007533 w 1007533"/>
              <a:gd name="connsiteY2" fmla="*/ 804339 h 927821"/>
              <a:gd name="connsiteX3" fmla="*/ 0 w 1007533"/>
              <a:gd name="connsiteY3" fmla="*/ 804339 h 927821"/>
              <a:gd name="connsiteX0" fmla="*/ 0 w 1007533"/>
              <a:gd name="connsiteY0" fmla="*/ 804339 h 904929"/>
              <a:gd name="connsiteX1" fmla="*/ 503767 w 1007533"/>
              <a:gd name="connsiteY1" fmla="*/ 5 h 904929"/>
              <a:gd name="connsiteX2" fmla="*/ 1007533 w 1007533"/>
              <a:gd name="connsiteY2" fmla="*/ 804339 h 904929"/>
              <a:gd name="connsiteX3" fmla="*/ 0 w 1007533"/>
              <a:gd name="connsiteY3" fmla="*/ 804339 h 904929"/>
              <a:gd name="connsiteX0" fmla="*/ 0 w 1007533"/>
              <a:gd name="connsiteY0" fmla="*/ 440275 h 570890"/>
              <a:gd name="connsiteX1" fmla="*/ 503767 w 1007533"/>
              <a:gd name="connsiteY1" fmla="*/ 7 h 570890"/>
              <a:gd name="connsiteX2" fmla="*/ 1007533 w 1007533"/>
              <a:gd name="connsiteY2" fmla="*/ 440275 h 570890"/>
              <a:gd name="connsiteX3" fmla="*/ 0 w 1007533"/>
              <a:gd name="connsiteY3" fmla="*/ 440275 h 570890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440372 h 570157"/>
              <a:gd name="connsiteX1" fmla="*/ 503767 w 1007533"/>
              <a:gd name="connsiteY1" fmla="*/ 104 h 570157"/>
              <a:gd name="connsiteX2" fmla="*/ 1007533 w 1007533"/>
              <a:gd name="connsiteY2" fmla="*/ 440372 h 570157"/>
              <a:gd name="connsiteX3" fmla="*/ 0 w 1007533"/>
              <a:gd name="connsiteY3" fmla="*/ 440372 h 570157"/>
              <a:gd name="connsiteX0" fmla="*/ 0 w 1007533"/>
              <a:gd name="connsiteY0" fmla="*/ 601223 h 715970"/>
              <a:gd name="connsiteX1" fmla="*/ 486834 w 1007533"/>
              <a:gd name="connsiteY1" fmla="*/ 88 h 715970"/>
              <a:gd name="connsiteX2" fmla="*/ 1007533 w 1007533"/>
              <a:gd name="connsiteY2" fmla="*/ 601223 h 715970"/>
              <a:gd name="connsiteX3" fmla="*/ 0 w 1007533"/>
              <a:gd name="connsiteY3" fmla="*/ 601223 h 715970"/>
              <a:gd name="connsiteX0" fmla="*/ 0 w 1007533"/>
              <a:gd name="connsiteY0" fmla="*/ 601141 h 716545"/>
              <a:gd name="connsiteX1" fmla="*/ 486834 w 1007533"/>
              <a:gd name="connsiteY1" fmla="*/ 6 h 716545"/>
              <a:gd name="connsiteX2" fmla="*/ 1007533 w 1007533"/>
              <a:gd name="connsiteY2" fmla="*/ 601141 h 716545"/>
              <a:gd name="connsiteX3" fmla="*/ 0 w 1007533"/>
              <a:gd name="connsiteY3" fmla="*/ 601141 h 71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533" h="716545">
                <a:moveTo>
                  <a:pt x="0" y="601141"/>
                </a:moveTo>
                <a:cubicBezTo>
                  <a:pt x="328788" y="1052696"/>
                  <a:pt x="327378" y="14117"/>
                  <a:pt x="486834" y="6"/>
                </a:cubicBezTo>
                <a:cubicBezTo>
                  <a:pt x="671690" y="-2818"/>
                  <a:pt x="678743" y="1061164"/>
                  <a:pt x="1007533" y="601141"/>
                </a:cubicBezTo>
                <a:lnTo>
                  <a:pt x="0" y="601141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629582A-1F93-4CA5-8616-CE4031D52B60}"/>
              </a:ext>
            </a:extLst>
          </p:cNvPr>
          <p:cNvCxnSpPr>
            <a:cxnSpLocks/>
          </p:cNvCxnSpPr>
          <p:nvPr/>
        </p:nvCxnSpPr>
        <p:spPr>
          <a:xfrm>
            <a:off x="315403" y="2312182"/>
            <a:ext cx="38852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EC87D7A-2214-4A6B-A29E-33515852B98D}"/>
              </a:ext>
            </a:extLst>
          </p:cNvPr>
          <p:cNvSpPr txBox="1"/>
          <p:nvPr/>
        </p:nvSpPr>
        <p:spPr>
          <a:xfrm>
            <a:off x="-72986" y="1874287"/>
            <a:ext cx="800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>
                <a:solidFill>
                  <a:srgbClr val="C00000"/>
                </a:solidFill>
              </a:rPr>
              <a:t>rf.delay</a:t>
            </a:r>
            <a:endParaRPr lang="de-DE" sz="1600" dirty="0">
              <a:solidFill>
                <a:srgbClr val="C00000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90D3386-9946-4EAF-BBC4-9EE97D249702}"/>
              </a:ext>
            </a:extLst>
          </p:cNvPr>
          <p:cNvSpPr txBox="1"/>
          <p:nvPr/>
        </p:nvSpPr>
        <p:spPr>
          <a:xfrm>
            <a:off x="7239000" y="3103505"/>
            <a:ext cx="501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rf.ringdown_time</a:t>
            </a:r>
            <a:r>
              <a:rPr lang="de-DE" dirty="0">
                <a:solidFill>
                  <a:srgbClr val="00B050"/>
                </a:solidFill>
              </a:rPr>
              <a:t>  </a:t>
            </a:r>
            <a:r>
              <a:rPr lang="de-DE" dirty="0" err="1">
                <a:solidFill>
                  <a:srgbClr val="00B050"/>
                </a:solidFill>
              </a:rPr>
              <a:t>is</a:t>
            </a:r>
            <a:r>
              <a:rPr lang="de-DE" dirty="0">
                <a:solidFill>
                  <a:srgbClr val="00B050"/>
                </a:solidFill>
              </a:rPr>
              <a:t> not </a:t>
            </a:r>
            <a:r>
              <a:rPr lang="de-DE" dirty="0" err="1">
                <a:solidFill>
                  <a:srgbClr val="00B050"/>
                </a:solidFill>
              </a:rPr>
              <a:t>dependent</a:t>
            </a:r>
            <a:r>
              <a:rPr lang="de-DE" dirty="0">
                <a:solidFill>
                  <a:srgbClr val="00B050"/>
                </a:solidFill>
              </a:rPr>
              <a:t> on </a:t>
            </a:r>
            <a:r>
              <a:rPr lang="de-DE" dirty="0" err="1">
                <a:solidFill>
                  <a:srgbClr val="00B050"/>
                </a:solidFill>
              </a:rPr>
              <a:t>the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gradient</a:t>
            </a:r>
            <a:endParaRPr lang="de-DE" dirty="0">
              <a:solidFill>
                <a:srgbClr val="00B050"/>
              </a:solidFill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DBA87E4-0579-4F64-811D-B0D7AACFDD4C}"/>
              </a:ext>
            </a:extLst>
          </p:cNvPr>
          <p:cNvCxnSpPr>
            <a:cxnSpLocks/>
          </p:cNvCxnSpPr>
          <p:nvPr/>
        </p:nvCxnSpPr>
        <p:spPr>
          <a:xfrm>
            <a:off x="2877472" y="2328244"/>
            <a:ext cx="19943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E0118288-6AF4-4BE0-9967-5252CBBF02C0}"/>
              </a:ext>
            </a:extLst>
          </p:cNvPr>
          <p:cNvSpPr txBox="1"/>
          <p:nvPr/>
        </p:nvSpPr>
        <p:spPr>
          <a:xfrm>
            <a:off x="4048142" y="3536781"/>
            <a:ext cx="571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C00000"/>
                </a:solidFill>
              </a:rPr>
              <a:t>rf.delay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is</a:t>
            </a:r>
            <a:r>
              <a:rPr lang="de-DE" dirty="0">
                <a:solidFill>
                  <a:srgbClr val="C00000"/>
                </a:solidFill>
              </a:rPr>
              <a:t> limited </a:t>
            </a:r>
            <a:r>
              <a:rPr lang="de-DE" dirty="0" err="1">
                <a:solidFill>
                  <a:srgbClr val="C00000"/>
                </a:solidFill>
              </a:rPr>
              <a:t>by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max</a:t>
            </a:r>
            <a:r>
              <a:rPr lang="de-DE" dirty="0">
                <a:solidFill>
                  <a:srgbClr val="C00000"/>
                </a:solidFill>
              </a:rPr>
              <a:t>(</a:t>
            </a:r>
            <a:r>
              <a:rPr lang="de-DE" dirty="0" err="1">
                <a:solidFill>
                  <a:srgbClr val="C00000"/>
                </a:solidFill>
              </a:rPr>
              <a:t>gradient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ramp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up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or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rf.dead_time</a:t>
            </a:r>
            <a:endParaRPr lang="de-DE" dirty="0">
              <a:solidFill>
                <a:srgbClr val="C00000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F50D63E-8ACD-4354-9558-454F9527685A}"/>
              </a:ext>
            </a:extLst>
          </p:cNvPr>
          <p:cNvSpPr txBox="1"/>
          <p:nvPr/>
        </p:nvSpPr>
        <p:spPr>
          <a:xfrm>
            <a:off x="3069516" y="2088209"/>
            <a:ext cx="181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rf.ringdown_time</a:t>
            </a:r>
            <a:endParaRPr lang="de-DE" dirty="0">
              <a:solidFill>
                <a:srgbClr val="00B05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5C15E34-6E30-45FC-B55A-76EDA6CA5FF4}"/>
              </a:ext>
            </a:extLst>
          </p:cNvPr>
          <p:cNvSpPr txBox="1"/>
          <p:nvPr/>
        </p:nvSpPr>
        <p:spPr>
          <a:xfrm>
            <a:off x="41931" y="928012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block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8290699-FEAA-40DD-997C-5492C32D088E}"/>
              </a:ext>
            </a:extLst>
          </p:cNvPr>
          <p:cNvSpPr txBox="1"/>
          <p:nvPr/>
        </p:nvSpPr>
        <p:spPr>
          <a:xfrm>
            <a:off x="315403" y="179547"/>
            <a:ext cx="8401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Simple fix </a:t>
            </a:r>
            <a:r>
              <a:rPr lang="de-DE" sz="2800" b="1" dirty="0" err="1"/>
              <a:t>for</a:t>
            </a:r>
            <a:r>
              <a:rPr lang="de-DE" sz="2800" b="1" dirty="0"/>
              <a:t> block </a:t>
            </a:r>
            <a:r>
              <a:rPr lang="de-DE" sz="2800" b="1" dirty="0" err="1"/>
              <a:t>pulses</a:t>
            </a:r>
            <a:r>
              <a:rPr lang="de-DE" sz="2800" b="1" dirty="0"/>
              <a:t>:  </a:t>
            </a:r>
            <a:r>
              <a:rPr lang="de-DE" sz="2800" b="1" dirty="0" err="1"/>
              <a:t>play</a:t>
            </a:r>
            <a:r>
              <a:rPr lang="de-DE" sz="2800" b="1" dirty="0"/>
              <a:t> out a </a:t>
            </a:r>
            <a:r>
              <a:rPr lang="de-DE" sz="2800" b="1" dirty="0" err="1"/>
              <a:t>symmetric</a:t>
            </a:r>
            <a:r>
              <a:rPr lang="de-DE" sz="2800" b="1" dirty="0"/>
              <a:t> </a:t>
            </a:r>
            <a:r>
              <a:rPr lang="de-DE" sz="2800" b="1" dirty="0" err="1"/>
              <a:t>delay</a:t>
            </a:r>
            <a:r>
              <a:rPr lang="de-DE" sz="2800" b="1" dirty="0"/>
              <a:t>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C9ACE7-F45C-4039-87E2-2F8269C686AC}"/>
              </a:ext>
            </a:extLst>
          </p:cNvPr>
          <p:cNvSpPr txBox="1"/>
          <p:nvPr/>
        </p:nvSpPr>
        <p:spPr>
          <a:xfrm>
            <a:off x="499531" y="4365748"/>
            <a:ext cx="92637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pp.calc_duration</a:t>
            </a:r>
            <a:r>
              <a:rPr lang="de-DE" dirty="0"/>
              <a:t>(</a:t>
            </a:r>
            <a:r>
              <a:rPr lang="de-DE" dirty="0" err="1"/>
              <a:t>sym_rf_block_delay</a:t>
            </a:r>
            <a:r>
              <a:rPr lang="de-DE" dirty="0"/>
              <a:t>)=   </a:t>
            </a:r>
            <a:r>
              <a:rPr lang="de-DE" dirty="0" err="1">
                <a:solidFill>
                  <a:srgbClr val="C00000"/>
                </a:solidFill>
              </a:rPr>
              <a:t>rf.delay</a:t>
            </a:r>
            <a:r>
              <a:rPr lang="de-DE" dirty="0">
                <a:solidFill>
                  <a:srgbClr val="C00000"/>
                </a:solidFill>
              </a:rPr>
              <a:t>+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duration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>
                <a:solidFill>
                  <a:srgbClr val="C00000"/>
                </a:solidFill>
              </a:rPr>
              <a:t>+ </a:t>
            </a:r>
            <a:r>
              <a:rPr lang="de-DE" dirty="0" err="1">
                <a:solidFill>
                  <a:srgbClr val="C00000"/>
                </a:solidFill>
              </a:rPr>
              <a:t>rf.delay</a:t>
            </a:r>
            <a:endParaRPr lang="de-DE" dirty="0">
              <a:solidFill>
                <a:srgbClr val="00B050"/>
              </a:solidFill>
            </a:endParaRPr>
          </a:p>
          <a:p>
            <a:endParaRPr lang="de-DE" dirty="0">
              <a:solidFill>
                <a:srgbClr val="C00000"/>
              </a:solidFill>
            </a:endParaRPr>
          </a:p>
          <a:p>
            <a:r>
              <a:rPr lang="de-DE" dirty="0" err="1"/>
              <a:t>pp.calc_duration</a:t>
            </a:r>
            <a:r>
              <a:rPr lang="de-DE" dirty="0"/>
              <a:t>(</a:t>
            </a:r>
            <a:r>
              <a:rPr lang="de-DE" dirty="0" err="1"/>
              <a:t>rf</a:t>
            </a:r>
            <a:r>
              <a:rPr lang="de-DE" dirty="0"/>
              <a:t>, </a:t>
            </a:r>
            <a:r>
              <a:rPr lang="de-DE" dirty="0" err="1"/>
              <a:t>sym_rf_block_delay</a:t>
            </a:r>
            <a:r>
              <a:rPr lang="de-DE" dirty="0"/>
              <a:t>) = </a:t>
            </a:r>
            <a:r>
              <a:rPr lang="de-DE" dirty="0" err="1"/>
              <a:t>sym_rf_block_delay</a:t>
            </a:r>
            <a:r>
              <a:rPr lang="de-DE" dirty="0" err="1">
                <a:solidFill>
                  <a:srgbClr val="0070C0"/>
                </a:solidFill>
              </a:rPr>
              <a:t>.duration</a:t>
            </a:r>
            <a:endParaRPr lang="de-DE" dirty="0">
              <a:solidFill>
                <a:srgbClr val="0070C0"/>
              </a:solidFill>
            </a:endParaRPr>
          </a:p>
          <a:p>
            <a:r>
              <a:rPr lang="de-DE" dirty="0">
                <a:solidFill>
                  <a:srgbClr val="C00000"/>
                </a:solidFill>
              </a:rPr>
              <a:t> </a:t>
            </a:r>
          </a:p>
          <a:p>
            <a:endParaRPr lang="de-DE" dirty="0">
              <a:solidFill>
                <a:srgbClr val="FF0000"/>
              </a:solidFill>
            </a:endParaRPr>
          </a:p>
          <a:p>
            <a:endParaRPr lang="de-DE" dirty="0">
              <a:solidFill>
                <a:srgbClr val="C00000"/>
              </a:solidFill>
            </a:endParaRPr>
          </a:p>
          <a:p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4CCD5C83-A930-4B73-9FEF-773AB6BEB432}"/>
              </a:ext>
            </a:extLst>
          </p:cNvPr>
          <p:cNvSpPr/>
          <p:nvPr/>
        </p:nvSpPr>
        <p:spPr>
          <a:xfrm>
            <a:off x="381000" y="3089853"/>
            <a:ext cx="2827868" cy="772377"/>
          </a:xfrm>
          <a:prstGeom prst="trapezoid">
            <a:avLst>
              <a:gd name="adj" fmla="val 0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sym_rf_block_delay</a:t>
            </a:r>
            <a:endParaRPr lang="de-DE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AEB82CF-2F62-490B-80AE-B6AB3C7F5961}"/>
              </a:ext>
            </a:extLst>
          </p:cNvPr>
          <p:cNvSpPr txBox="1"/>
          <p:nvPr/>
        </p:nvSpPr>
        <p:spPr>
          <a:xfrm>
            <a:off x="7911629" y="4913494"/>
            <a:ext cx="319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RF </a:t>
            </a:r>
            <a:r>
              <a:rPr lang="de-DE" b="1" dirty="0" err="1">
                <a:solidFill>
                  <a:srgbClr val="FF0000"/>
                </a:solidFill>
              </a:rPr>
              <a:t>is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centered</a:t>
            </a:r>
            <a:r>
              <a:rPr lang="de-DE" b="1" dirty="0">
                <a:solidFill>
                  <a:srgbClr val="FF0000"/>
                </a:solidFill>
              </a:rPr>
              <a:t> in </a:t>
            </a:r>
            <a:r>
              <a:rPr lang="de-DE" b="1" dirty="0" err="1">
                <a:solidFill>
                  <a:srgbClr val="FF0000"/>
                </a:solidFill>
              </a:rPr>
              <a:t>the</a:t>
            </a:r>
            <a:r>
              <a:rPr lang="de-DE" b="1" dirty="0">
                <a:solidFill>
                  <a:srgbClr val="FF0000"/>
                </a:solidFill>
              </a:rPr>
              <a:t> block </a:t>
            </a:r>
            <a:r>
              <a:rPr lang="de-DE" b="1" dirty="0" err="1">
                <a:solidFill>
                  <a:srgbClr val="FF0000"/>
                </a:solidFill>
              </a:rPr>
              <a:t>rf,gz</a:t>
            </a:r>
            <a:r>
              <a:rPr lang="de-DE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A703A14-1DE8-4B72-BA2C-7D24DBF3E313}"/>
              </a:ext>
            </a:extLst>
          </p:cNvPr>
          <p:cNvSpPr/>
          <p:nvPr/>
        </p:nvSpPr>
        <p:spPr>
          <a:xfrm>
            <a:off x="721463" y="1793323"/>
            <a:ext cx="2146941" cy="5349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rf</a:t>
            </a:r>
            <a:endParaRPr lang="de-DE" dirty="0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C947A78-263C-4AEC-9270-437C9DB64594}"/>
              </a:ext>
            </a:extLst>
          </p:cNvPr>
          <p:cNvCxnSpPr>
            <a:cxnSpLocks/>
          </p:cNvCxnSpPr>
          <p:nvPr/>
        </p:nvCxnSpPr>
        <p:spPr>
          <a:xfrm>
            <a:off x="381000" y="3064452"/>
            <a:ext cx="38852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A91B28F1-4A91-4363-8BF4-A4C53AFC4484}"/>
              </a:ext>
            </a:extLst>
          </p:cNvPr>
          <p:cNvCxnSpPr>
            <a:cxnSpLocks/>
          </p:cNvCxnSpPr>
          <p:nvPr/>
        </p:nvCxnSpPr>
        <p:spPr>
          <a:xfrm>
            <a:off x="2820343" y="3073701"/>
            <a:ext cx="38852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173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Breitbild</PresentationFormat>
  <Paragraphs>63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Zaiß, Moritz</dc:creator>
  <cp:lastModifiedBy>Zaiß, Moritz</cp:lastModifiedBy>
  <cp:revision>3</cp:revision>
  <dcterms:created xsi:type="dcterms:W3CDTF">2024-12-01T12:28:26Z</dcterms:created>
  <dcterms:modified xsi:type="dcterms:W3CDTF">2024-12-01T12:39:09Z</dcterms:modified>
</cp:coreProperties>
</file>